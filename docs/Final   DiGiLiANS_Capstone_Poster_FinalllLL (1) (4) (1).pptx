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43891200" cy="32918400"/>
  <p:notesSz cx="7315200" cy="9601200"/>
  <p:defaultTextStyle>
    <a:defPPr>
      <a:defRPr lang="en-US"/>
    </a:defPPr>
    <a:lvl1pPr algn="l" defTabSz="2193925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MS PGothic" pitchFamily="34" charset="-128"/>
        <a:cs typeface="+mn-cs"/>
      </a:defRPr>
    </a:lvl1pPr>
    <a:lvl2pPr marL="2193925" indent="-1736725" algn="l" defTabSz="2193925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4387850" indent="-3473450" algn="l" defTabSz="2193925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6583363" indent="-5211763" algn="l" defTabSz="2193925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8777288" indent="-6948488" algn="l" defTabSz="2193925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8600" kern="1200">
        <a:solidFill>
          <a:schemeClr val="tx1"/>
        </a:solidFill>
        <a:latin typeface="Arial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8600" kern="1200">
        <a:solidFill>
          <a:schemeClr val="tx1"/>
        </a:solidFill>
        <a:latin typeface="Arial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8600" kern="1200">
        <a:solidFill>
          <a:schemeClr val="tx1"/>
        </a:solidFill>
        <a:latin typeface="Arial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8600" kern="1200">
        <a:solidFill>
          <a:schemeClr val="tx1"/>
        </a:solidFill>
        <a:latin typeface="Arial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  <a:srgbClr val="4E82BD"/>
    <a:srgbClr val="4A1766"/>
    <a:srgbClr val="F7F20E"/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نمط متوسط 2 - تميي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نمط متوسط 2 - تميي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نمط متوسط 2 - تميي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نمط متوسط 2 - تميي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نمط متوسط 2 - تميي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بلا نمط، شبكة جدول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النمط المتوسط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 snapToObjects="1">
      <p:cViewPr varScale="1">
        <p:scale>
          <a:sx n="24" d="100"/>
          <a:sy n="24" d="100"/>
        </p:scale>
        <p:origin x="2034" y="18"/>
      </p:cViewPr>
      <p:guideLst>
        <p:guide orient="horz" pos="13824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pitchFamily="48" charset="0"/>
                <a:ea typeface="ＭＳ Ｐゴシック" pitchFamily="48" charset="-128"/>
                <a:cs typeface="ＭＳ Ｐゴシック" pitchFamily="4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E22587C7-780E-422B-94DA-743F2C8C5832}" type="datetime1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720725"/>
            <a:ext cx="2701925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6661" tIns="48331" rIns="96661" bIns="48331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pitchFamily="48" charset="0"/>
                <a:ea typeface="ＭＳ Ｐゴシック" pitchFamily="48" charset="-128"/>
                <a:cs typeface="ＭＳ Ｐゴシック" pitchFamily="4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itchFamily="48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F824B1C7-47ED-4705-9392-C443AD4021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85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2193925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MS PGothic" pitchFamily="34" charset="-128"/>
        <a:cs typeface="ＭＳ Ｐゴシック" pitchFamily="-106" charset="-128"/>
      </a:defRPr>
    </a:lvl1pPr>
    <a:lvl2pPr marL="2193925" algn="l" defTabSz="2193925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4387850" algn="l" defTabSz="2193925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6583363" algn="l" defTabSz="2193925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8777288" algn="l" defTabSz="2193925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1097280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13634723"/>
            <a:ext cx="27980640" cy="94081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24871680"/>
            <a:ext cx="23042880" cy="112166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462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1BCEDB5D-7087-48C7-9189-DBB5C31F4072}" type="datetime1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438" y="40212963"/>
            <a:ext cx="10425112" cy="233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48" charset="0"/>
                <a:ea typeface="ＭＳ Ｐゴシック" pitchFamily="48" charset="-128"/>
                <a:cs typeface="ＭＳ Ｐゴシック" pitchFamily="4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8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CDEA0710-AA8D-4BD1-ACD8-B522735C7B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1291167"/>
            <a:ext cx="29627513" cy="7315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444" y="9774767"/>
            <a:ext cx="29627513" cy="289644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462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28A88270-ADD1-4F31-9E58-D12DAA735F5A}" type="datetime1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438" y="40212963"/>
            <a:ext cx="10425112" cy="233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48" charset="0"/>
                <a:ea typeface="ＭＳ Ｐゴシック" pitchFamily="48" charset="-128"/>
                <a:cs typeface="ＭＳ Ｐゴシック" pitchFamily="4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8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0123EB1E-DC15-4A9D-9886-284B610ADA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6" y="28204163"/>
            <a:ext cx="27980640" cy="8717280"/>
          </a:xfrm>
          <a:prstGeom prst="rect">
            <a:avLst/>
          </a:prstGeo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6" y="18602967"/>
            <a:ext cx="27980640" cy="960119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462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AE0536AB-14A6-4E4F-8C62-3DBDC48799E9}" type="datetime1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438" y="40212963"/>
            <a:ext cx="10425112" cy="233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48" charset="0"/>
                <a:ea typeface="ＭＳ Ｐゴシック" pitchFamily="48" charset="-128"/>
                <a:cs typeface="ＭＳ Ｐゴシック" pitchFamily="4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8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8A6CB54B-AFB3-4FB0-9C4F-97746EC7EF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1291167"/>
            <a:ext cx="29627513" cy="7315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0" y="10241284"/>
            <a:ext cx="14538960" cy="28966163"/>
          </a:xfrm>
          <a:prstGeom prst="rect">
            <a:avLst/>
          </a:prstGeo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33520" y="10241284"/>
            <a:ext cx="14538960" cy="28966163"/>
          </a:xfrm>
          <a:prstGeom prst="rect">
            <a:avLst/>
          </a:prstGeo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16462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51277B42-0036-45A8-AB2B-2670D0D7DA33}" type="datetime1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438" y="40212963"/>
            <a:ext cx="10425112" cy="233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48" charset="0"/>
                <a:ea typeface="ＭＳ Ｐゴシック" pitchFamily="48" charset="-128"/>
                <a:cs typeface="ＭＳ Ｐゴシック" pitchFamily="4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8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370EE20F-56A2-4F8B-A51B-71C64AE0F9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1291167"/>
            <a:ext cx="29627513" cy="7315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9824723"/>
            <a:ext cx="14544677" cy="40944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13919200"/>
            <a:ext cx="14544677" cy="25288243"/>
          </a:xfrm>
          <a:prstGeom prst="rect">
            <a:avLst/>
          </a:prstGeo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2" y="9824723"/>
            <a:ext cx="14550390" cy="40944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2" y="13919200"/>
            <a:ext cx="14550390" cy="25288243"/>
          </a:xfrm>
          <a:prstGeom prst="rect">
            <a:avLst/>
          </a:prstGeo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16462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F095A42C-2F24-4841-B8C7-BCE46F2D6E43}" type="datetime1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438" y="40212963"/>
            <a:ext cx="10425112" cy="233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48" charset="0"/>
                <a:ea typeface="ＭＳ Ｐゴシック" pitchFamily="48" charset="-128"/>
                <a:cs typeface="ＭＳ Ｐゴシック" pitchFamily="4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8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901F47ED-5536-4C8B-8BCB-BDEE2C1839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1291167"/>
            <a:ext cx="29627513" cy="7315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16462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E848A67E-CA0A-409C-9B39-0CDC5E0DDD06}" type="datetime1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438" y="40212963"/>
            <a:ext cx="10425112" cy="233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48" charset="0"/>
                <a:ea typeface="ＭＳ Ｐゴシック" pitchFamily="48" charset="-128"/>
                <a:cs typeface="ＭＳ Ｐゴシック" pitchFamily="4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8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5836F3BD-1887-4BD1-89CA-D2FD38DE6D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16462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549D4209-5826-4CF7-ACB6-CB5A6A2F1DBA}" type="datetime1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438" y="40212963"/>
            <a:ext cx="10425112" cy="233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48" charset="0"/>
                <a:ea typeface="ＭＳ Ｐゴシック" pitchFamily="48" charset="-128"/>
                <a:cs typeface="ＭＳ Ｐゴシック" pitchFamily="4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8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8BB81ED2-19E3-4A85-B67A-100E93AD5A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2" y="1747520"/>
            <a:ext cx="10829927" cy="7437120"/>
          </a:xfrm>
          <a:prstGeom prst="rect">
            <a:avLst/>
          </a:prstGeo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1747524"/>
            <a:ext cx="18402300" cy="37459923"/>
          </a:xfrm>
          <a:prstGeom prst="rect">
            <a:avLst/>
          </a:prstGeo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2" y="9184644"/>
            <a:ext cx="10829927" cy="3002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16462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88C0BF79-1EB3-431D-BBAF-AA3315069997}" type="datetime1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438" y="40212963"/>
            <a:ext cx="10425112" cy="233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48" charset="0"/>
                <a:ea typeface="ＭＳ Ｐゴシック" pitchFamily="48" charset="-128"/>
                <a:cs typeface="ＭＳ Ｐゴシック" pitchFamily="4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8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64865BE6-B6C4-4186-A3F6-4F77674054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30723840"/>
            <a:ext cx="19751040" cy="3627123"/>
          </a:xfrm>
          <a:prstGeom prst="rect">
            <a:avLst/>
          </a:prstGeo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3921760"/>
            <a:ext cx="19751040" cy="2633472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34350963"/>
            <a:ext cx="19751040" cy="51511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16462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5D38EB24-2C05-48FD-926A-8970D49CC4F1}" type="datetime1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438" y="40212963"/>
            <a:ext cx="10425112" cy="233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48" charset="0"/>
                <a:ea typeface="ＭＳ Ｐゴシック" pitchFamily="48" charset="-128"/>
                <a:cs typeface="ＭＳ Ｐゴシック" pitchFamily="4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8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A129EA24-F8E4-461D-BF74-F8344A6601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1291167"/>
            <a:ext cx="29627513" cy="7315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4" y="9774767"/>
            <a:ext cx="29627513" cy="289644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462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5F904DD3-80B7-4DB7-9D83-7F1AA140757C}" type="datetime1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438" y="40212963"/>
            <a:ext cx="10425112" cy="233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48" charset="0"/>
                <a:ea typeface="ＭＳ Ｐゴシック" pitchFamily="48" charset="-128"/>
                <a:cs typeface="ＭＳ Ｐゴシック" pitchFamily="4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8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00E55AB1-EA71-48CC-BC8E-5758501FE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5840" y="1757687"/>
            <a:ext cx="7406640" cy="3744976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0" y="1757687"/>
            <a:ext cx="21671280" cy="3744976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462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62B20BF3-0AA3-4C3A-8380-413A46A24EE9}" type="datetime1">
              <a:rPr lang="en-US"/>
              <a:pPr>
                <a:defRPr/>
              </a:pPr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47438" y="40212963"/>
            <a:ext cx="10425112" cy="233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48" charset="0"/>
                <a:ea typeface="ＭＳ Ｐゴシック" pitchFamily="48" charset="-128"/>
                <a:cs typeface="ＭＳ Ｐゴシック" pitchFamily="4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591838" y="40212963"/>
            <a:ext cx="7681912" cy="2336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48" charset="-128"/>
              </a:defRPr>
            </a:lvl1pPr>
          </a:lstStyle>
          <a:p>
            <a:pPr>
              <a:defRPr/>
            </a:pPr>
            <a:fld id="{6E1019CE-FD2C-4AA4-8D76-D4094D764E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txStyles>
    <p:titleStyle>
      <a:lvl1pPr algn="ctr" defTabSz="2193925" rtl="0" eaLnBrk="0" fontAlgn="base" hangingPunct="0">
        <a:spcBef>
          <a:spcPct val="0"/>
        </a:spcBef>
        <a:spcAft>
          <a:spcPct val="0"/>
        </a:spcAft>
        <a:defRPr sz="21100" kern="1200">
          <a:solidFill>
            <a:schemeClr val="tx1"/>
          </a:solidFill>
          <a:latin typeface="+mj-lt"/>
          <a:ea typeface="MS PGothic" pitchFamily="34" charset="-128"/>
          <a:cs typeface="ＭＳ Ｐゴシック" pitchFamily="-106" charset="-128"/>
        </a:defRPr>
      </a:lvl1pPr>
      <a:lvl2pPr algn="ctr" defTabSz="2193925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-106" charset="0"/>
          <a:ea typeface="MS PGothic" pitchFamily="34" charset="-128"/>
          <a:cs typeface="ＭＳ Ｐゴシック" pitchFamily="-106" charset="-128"/>
        </a:defRPr>
      </a:lvl2pPr>
      <a:lvl3pPr algn="ctr" defTabSz="2193925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-106" charset="0"/>
          <a:ea typeface="MS PGothic" pitchFamily="34" charset="-128"/>
          <a:cs typeface="ＭＳ Ｐゴシック" pitchFamily="-106" charset="-128"/>
        </a:defRPr>
      </a:lvl3pPr>
      <a:lvl4pPr algn="ctr" defTabSz="2193925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-106" charset="0"/>
          <a:ea typeface="MS PGothic" pitchFamily="34" charset="-128"/>
          <a:cs typeface="ＭＳ Ｐゴシック" pitchFamily="-106" charset="-128"/>
        </a:defRPr>
      </a:lvl4pPr>
      <a:lvl5pPr algn="ctr" defTabSz="2193925" rtl="0" eaLnBrk="0" fontAlgn="base" hangingPunct="0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-106" charset="0"/>
          <a:ea typeface="MS PGothic" pitchFamily="34" charset="-128"/>
          <a:cs typeface="ＭＳ Ｐゴシック" pitchFamily="-106" charset="-128"/>
        </a:defRPr>
      </a:lvl5pPr>
      <a:lvl6pPr marL="457200" algn="ctr" defTabSz="2193925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-106" charset="0"/>
          <a:ea typeface="ＭＳ Ｐゴシック" pitchFamily="-106" charset="-128"/>
          <a:cs typeface="ＭＳ Ｐゴシック" pitchFamily="-106" charset="-128"/>
        </a:defRPr>
      </a:lvl6pPr>
      <a:lvl7pPr marL="914400" algn="ctr" defTabSz="2193925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-106" charset="0"/>
          <a:ea typeface="ＭＳ Ｐゴシック" pitchFamily="-106" charset="-128"/>
          <a:cs typeface="ＭＳ Ｐゴシック" pitchFamily="-106" charset="-128"/>
        </a:defRPr>
      </a:lvl7pPr>
      <a:lvl8pPr marL="1371600" algn="ctr" defTabSz="2193925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-106" charset="0"/>
          <a:ea typeface="ＭＳ Ｐゴシック" pitchFamily="-106" charset="-128"/>
          <a:cs typeface="ＭＳ Ｐゴシック" pitchFamily="-106" charset="-128"/>
        </a:defRPr>
      </a:lvl8pPr>
      <a:lvl9pPr marL="1828800" algn="ctr" defTabSz="2193925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-106" charset="0"/>
          <a:ea typeface="ＭＳ Ｐゴシック" pitchFamily="-106" charset="-128"/>
          <a:cs typeface="ＭＳ Ｐゴシック" pitchFamily="-106" charset="-128"/>
        </a:defRPr>
      </a:lvl9pPr>
    </p:titleStyle>
    <p:bodyStyle>
      <a:lvl1pPr marL="1644650" indent="-1644650" algn="l" defTabSz="2193925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5400" kern="1200">
          <a:solidFill>
            <a:schemeClr val="tx1"/>
          </a:solidFill>
          <a:latin typeface="+mn-lt"/>
          <a:ea typeface="MS PGothic" pitchFamily="34" charset="-128"/>
          <a:cs typeface="ＭＳ Ｐゴシック" pitchFamily="-106" charset="-128"/>
        </a:defRPr>
      </a:lvl1pPr>
      <a:lvl2pPr marL="3565525" indent="-1371600" algn="l" defTabSz="2193925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3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5486400" indent="-1096963" algn="l" defTabSz="2193925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15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7680325" indent="-1096963" algn="l" defTabSz="2193925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96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9874250" indent="-1096963" algn="l" defTabSz="2193925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96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1207008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-13768" y="3276728"/>
            <a:ext cx="43891200" cy="32918400"/>
          </a:xfrm>
          <a:prstGeom prst="rect">
            <a:avLst/>
          </a:prstGeom>
          <a:solidFill>
            <a:srgbClr val="F2F4F8"/>
          </a:solidFill>
          <a:ln w="0">
            <a:noFill/>
          </a:ln>
        </p:spPr>
        <p:txBody>
          <a:bodyPr/>
          <a:lstStyle/>
          <a:p>
            <a:r>
              <a:rPr lang="ar-EG" dirty="0"/>
              <a:t>]</a:t>
            </a:r>
            <a:endParaRPr lang="en-US" dirty="0"/>
          </a:p>
        </p:txBody>
      </p:sp>
      <p:sp>
        <p:nvSpPr>
          <p:cNvPr id="3" name="HeaderBand"/>
          <p:cNvSpPr/>
          <p:nvPr/>
        </p:nvSpPr>
        <p:spPr>
          <a:xfrm>
            <a:off x="-78874" y="157124"/>
            <a:ext cx="43891200" cy="6858000"/>
          </a:xfrm>
          <a:prstGeom prst="rect">
            <a:avLst/>
          </a:prstGeom>
          <a:solidFill>
            <a:srgbClr val="1A2D5A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CyanStripe"/>
          <p:cNvSpPr/>
          <p:nvPr/>
        </p:nvSpPr>
        <p:spPr>
          <a:xfrm>
            <a:off x="0" y="6858000"/>
            <a:ext cx="43891200" cy="342900"/>
          </a:xfrm>
          <a:prstGeom prst="rect">
            <a:avLst/>
          </a:prstGeom>
          <a:solidFill>
            <a:srgbClr val="00AEE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ldLine"/>
          <p:cNvSpPr/>
          <p:nvPr/>
        </p:nvSpPr>
        <p:spPr>
          <a:xfrm>
            <a:off x="0" y="7200900"/>
            <a:ext cx="43891200" cy="171450"/>
          </a:xfrm>
          <a:prstGeom prst="rect">
            <a:avLst/>
          </a:prstGeom>
          <a:solidFill>
            <a:srgbClr val="C8A84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" name="LogoMilit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899"/>
            <a:ext cx="7315200" cy="5166963"/>
          </a:xfrm>
          <a:prstGeom prst="rect">
            <a:avLst/>
          </a:prstGeom>
        </p:spPr>
      </p:pic>
      <p:pic>
        <p:nvPicPr>
          <p:cNvPr id="11" name="LogoDigilia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4644" y="495364"/>
            <a:ext cx="5283200" cy="2971800"/>
          </a:xfrm>
          <a:prstGeom prst="rect">
            <a:avLst/>
          </a:prstGeom>
        </p:spPr>
      </p:pic>
      <p:pic>
        <p:nvPicPr>
          <p:cNvPr id="12" name="LogoMinist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05686" y="685800"/>
            <a:ext cx="12014200" cy="3771900"/>
          </a:xfrm>
          <a:prstGeom prst="rect">
            <a:avLst/>
          </a:prstGeom>
        </p:spPr>
      </p:pic>
      <p:sp>
        <p:nvSpPr>
          <p:cNvPr id="13" name="HeaderText"/>
          <p:cNvSpPr/>
          <p:nvPr/>
        </p:nvSpPr>
        <p:spPr>
          <a:xfrm>
            <a:off x="812800" y="4114800"/>
            <a:ext cx="42265600" cy="2743200"/>
          </a:xfrm>
          <a:prstGeom prst="rect">
            <a:avLst/>
          </a:prstGeom>
          <a:noFill/>
        </p:spPr>
        <p:txBody>
          <a:bodyPr wrap="square" lIns="182880" tIns="91440" rIns="182880" bIns="91440" rtlCol="0" anchor="ctr"/>
          <a:lstStyle/>
          <a:p>
            <a:pPr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libri"/>
              </a:rPr>
              <a:t>Digital Pioneers Initiative</a:t>
            </a:r>
          </a:p>
          <a:p>
            <a:pPr algn="ctr">
              <a:buNone/>
            </a:pPr>
            <a:r>
              <a:rPr lang="en-US" sz="5400" b="1" dirty="0">
                <a:solidFill>
                  <a:srgbClr val="00AEEF"/>
                </a:solidFill>
                <a:latin typeface="Calibri"/>
              </a:rPr>
              <a:t>DiGiLiANS — Junior Data Analysis</a:t>
            </a:r>
          </a:p>
          <a:p>
            <a:pPr algn="ctr">
              <a:buNone/>
            </a:pPr>
            <a:r>
              <a:rPr lang="en-US" sz="4000" b="0" dirty="0">
                <a:solidFill>
                  <a:srgbClr val="C8A84B"/>
                </a:solidFill>
                <a:latin typeface="Calibri"/>
              </a:rPr>
              <a:t>MCIT &amp; Egyptian Military Academy  |  Capstone Project Defense — September 2026</a:t>
            </a:r>
          </a:p>
        </p:txBody>
      </p:sp>
      <p:sp>
        <p:nvSpPr>
          <p:cNvPr id="20" name="TitleBand"/>
          <p:cNvSpPr/>
          <p:nvPr/>
        </p:nvSpPr>
        <p:spPr>
          <a:xfrm>
            <a:off x="31487" y="7172550"/>
            <a:ext cx="43891200" cy="3086100"/>
          </a:xfrm>
          <a:prstGeom prst="rect">
            <a:avLst/>
          </a:prstGeom>
          <a:solidFill>
            <a:srgbClr val="1E5C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itleAccent"/>
          <p:cNvSpPr/>
          <p:nvPr/>
        </p:nvSpPr>
        <p:spPr>
          <a:xfrm>
            <a:off x="33421" y="10205071"/>
            <a:ext cx="43920751" cy="167429"/>
          </a:xfrm>
          <a:prstGeom prst="rect">
            <a:avLst/>
          </a:prstGeom>
          <a:solidFill>
            <a:srgbClr val="C8A84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itleText"/>
          <p:cNvSpPr/>
          <p:nvPr/>
        </p:nvSpPr>
        <p:spPr>
          <a:xfrm>
            <a:off x="1219200" y="7372350"/>
            <a:ext cx="42062400" cy="3086100"/>
          </a:xfrm>
          <a:prstGeom prst="rect">
            <a:avLst/>
          </a:prstGeom>
          <a:noFill/>
        </p:spPr>
        <p:txBody>
          <a:bodyPr wrap="square" lIns="182880" tIns="91440" rIns="182880" bIns="91440" rtlCol="0" anchor="ctr"/>
          <a:lstStyle/>
          <a:p>
            <a:pPr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/>
              </a:rPr>
              <a:t>Data-Driven Analysis of Global AI Compute Dependency and Arab AI Opportunities</a:t>
            </a:r>
          </a:p>
          <a:p>
            <a:pPr algn="ctr">
              <a:buNone/>
            </a:pPr>
            <a:r>
              <a:rPr lang="en-US" sz="6000" i="1" dirty="0">
                <a:solidFill>
                  <a:srgbClr val="C8A84B"/>
                </a:solidFill>
                <a:latin typeface="Calibri"/>
              </a:rPr>
              <a:t>Enterprise Business Intelligence Solution for Global Compute Mapping &amp; Strategic National Decision-Support</a:t>
            </a:r>
          </a:p>
        </p:txBody>
      </p:sp>
      <p:sp>
        <p:nvSpPr>
          <p:cNvPr id="30" name="TeamBand"/>
          <p:cNvSpPr/>
          <p:nvPr/>
        </p:nvSpPr>
        <p:spPr>
          <a:xfrm>
            <a:off x="38044803" y="11007946"/>
            <a:ext cx="5675083" cy="1314000"/>
          </a:xfrm>
          <a:prstGeom prst="rect">
            <a:avLst/>
          </a:prstGeom>
          <a:noFill/>
          <a:ln w="28575">
            <a:noFill/>
          </a:ln>
        </p:spPr>
        <p:txBody>
          <a:bodyPr/>
          <a:lstStyle/>
          <a:p>
            <a:pPr algn="ctr">
              <a:buNone/>
            </a:pPr>
            <a:r>
              <a:rPr lang="en-US" sz="4400" b="1" dirty="0">
                <a:solidFill>
                  <a:srgbClr val="1A2D5A"/>
                </a:solidFill>
                <a:latin typeface="Georgia" panose="02040502050405020303" pitchFamily="18" charset="0"/>
                <a:cs typeface="Diwani Letter" panose="02010400000000000000" pitchFamily="2" charset="-78"/>
              </a:rPr>
              <a:t>Amany Mohamed</a:t>
            </a:r>
          </a:p>
        </p:txBody>
      </p:sp>
      <p:sp>
        <p:nvSpPr>
          <p:cNvPr id="31" name="M1"/>
          <p:cNvSpPr/>
          <p:nvPr/>
        </p:nvSpPr>
        <p:spPr>
          <a:xfrm>
            <a:off x="31487" y="10952614"/>
            <a:ext cx="6679904" cy="240030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4400" b="1" dirty="0">
                <a:solidFill>
                  <a:srgbClr val="1A2D5A"/>
                </a:solidFill>
                <a:latin typeface="Georgia" panose="02040502050405020303" pitchFamily="18" charset="0"/>
              </a:rPr>
              <a:t>Nermeen Ahmed</a:t>
            </a:r>
          </a:p>
        </p:txBody>
      </p:sp>
      <p:sp>
        <p:nvSpPr>
          <p:cNvPr id="32" name="M2"/>
          <p:cNvSpPr/>
          <p:nvPr/>
        </p:nvSpPr>
        <p:spPr>
          <a:xfrm>
            <a:off x="7679661" y="11017704"/>
            <a:ext cx="7310709" cy="240030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4400" b="1" dirty="0">
                <a:solidFill>
                  <a:srgbClr val="1A2D5A"/>
                </a:solidFill>
                <a:latin typeface="Georgia" panose="02040502050405020303" pitchFamily="18" charset="0"/>
              </a:rPr>
              <a:t>Mariam Samir</a:t>
            </a:r>
          </a:p>
        </p:txBody>
      </p:sp>
      <p:sp>
        <p:nvSpPr>
          <p:cNvPr id="33" name="M3"/>
          <p:cNvSpPr/>
          <p:nvPr/>
        </p:nvSpPr>
        <p:spPr>
          <a:xfrm>
            <a:off x="16269047" y="10945814"/>
            <a:ext cx="7310709" cy="240030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4400" b="1" dirty="0">
                <a:solidFill>
                  <a:srgbClr val="1A2D5A"/>
                </a:solidFill>
                <a:latin typeface="Georgia" panose="02040502050405020303" pitchFamily="18" charset="0"/>
              </a:rPr>
              <a:t>Menna Mohamed</a:t>
            </a:r>
          </a:p>
        </p:txBody>
      </p:sp>
      <p:sp>
        <p:nvSpPr>
          <p:cNvPr id="34" name="M4"/>
          <p:cNvSpPr/>
          <p:nvPr/>
        </p:nvSpPr>
        <p:spPr>
          <a:xfrm>
            <a:off x="24390956" y="10945814"/>
            <a:ext cx="6507353" cy="240030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4800" b="1" dirty="0" err="1">
                <a:solidFill>
                  <a:srgbClr val="1A2D5A"/>
                </a:solidFill>
                <a:latin typeface="Georgia" panose="02040502050405020303" pitchFamily="18" charset="0"/>
              </a:rPr>
              <a:t>Shrouq</a:t>
            </a:r>
            <a:r>
              <a:rPr lang="en-US" sz="4800" b="1" dirty="0">
                <a:solidFill>
                  <a:srgbClr val="1A2D5A"/>
                </a:solidFill>
                <a:latin typeface="Georgia" panose="02040502050405020303" pitchFamily="18" charset="0"/>
              </a:rPr>
              <a:t> Mera</a:t>
            </a:r>
          </a:p>
        </p:txBody>
      </p:sp>
      <p:sp>
        <p:nvSpPr>
          <p:cNvPr id="35" name="M5"/>
          <p:cNvSpPr/>
          <p:nvPr/>
        </p:nvSpPr>
        <p:spPr>
          <a:xfrm>
            <a:off x="32365721" y="11003817"/>
            <a:ext cx="5457094" cy="240030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en-US" sz="4400" b="1" dirty="0" err="1">
                <a:solidFill>
                  <a:srgbClr val="1A2D5A"/>
                </a:solidFill>
                <a:latin typeface="Georgia" panose="02040502050405020303" pitchFamily="18" charset="0"/>
              </a:rPr>
              <a:t>Shahd</a:t>
            </a:r>
            <a:r>
              <a:rPr lang="en-US" sz="4400" b="1" dirty="0">
                <a:solidFill>
                  <a:srgbClr val="1A2D5A"/>
                </a:solidFill>
                <a:latin typeface="Georgia" panose="02040502050405020303" pitchFamily="18" charset="0"/>
              </a:rPr>
              <a:t> Mohamed</a:t>
            </a:r>
          </a:p>
        </p:txBody>
      </p:sp>
      <p:sp>
        <p:nvSpPr>
          <p:cNvPr id="40" name="SupBar"/>
          <p:cNvSpPr/>
          <p:nvPr/>
        </p:nvSpPr>
        <p:spPr>
          <a:xfrm>
            <a:off x="-26366" y="12710763"/>
            <a:ext cx="43891200" cy="1714500"/>
          </a:xfrm>
          <a:prstGeom prst="rect">
            <a:avLst/>
          </a:prstGeom>
          <a:solidFill>
            <a:srgbClr val="1A2D5A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SupL"/>
          <p:cNvSpPr/>
          <p:nvPr/>
        </p:nvSpPr>
        <p:spPr>
          <a:xfrm>
            <a:off x="681652" y="12779176"/>
            <a:ext cx="20727200" cy="1714500"/>
          </a:xfrm>
          <a:prstGeom prst="rect">
            <a:avLst/>
          </a:prstGeom>
          <a:noFill/>
        </p:spPr>
        <p:txBody>
          <a:bodyPr wrap="square" lIns="182880" tIns="45720" rIns="182880" bIns="45720" rtlCol="0" anchor="ctr"/>
          <a:lstStyle/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Supervisor: Prof. Dr. Rania Elgohary</a:t>
            </a:r>
          </a:p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Track Head: Dr. Ahmed Zakaria</a:t>
            </a:r>
          </a:p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Academic Team: Dr. Yasser Ali</a:t>
            </a:r>
          </a:p>
          <a:p>
            <a:pPr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Instructor: Dr. Bassam Elshoura (YAT Company)</a:t>
            </a:r>
          </a:p>
        </p:txBody>
      </p:sp>
      <p:sp>
        <p:nvSpPr>
          <p:cNvPr id="42" name="TrackR"/>
          <p:cNvSpPr/>
          <p:nvPr/>
        </p:nvSpPr>
        <p:spPr>
          <a:xfrm>
            <a:off x="22351200" y="12858750"/>
            <a:ext cx="20727200" cy="1714500"/>
          </a:xfrm>
          <a:prstGeom prst="rect">
            <a:avLst/>
          </a:prstGeom>
          <a:noFill/>
        </p:spPr>
        <p:txBody>
          <a:bodyPr wrap="square" lIns="182880" tIns="45720" rIns="182880" bIns="45720" rtlCol="0" anchor="ctr"/>
          <a:lstStyle/>
          <a:p>
            <a:pPr algn="r">
              <a:buNone/>
            </a:pPr>
            <a:r>
              <a:rPr lang="en-US" sz="6000" b="1" dirty="0">
                <a:solidFill>
                  <a:srgbClr val="FFFFFF"/>
                </a:solidFill>
                <a:latin typeface="Bahnschrift Light" panose="020B0502040204020203" pitchFamily="34" charset="0"/>
              </a:rPr>
              <a:t>Track: Junior Data Analysis</a:t>
            </a:r>
          </a:p>
        </p:txBody>
      </p:sp>
      <p:sp>
        <p:nvSpPr>
          <p:cNvPr id="50" name="AbsHdr"/>
          <p:cNvSpPr/>
          <p:nvPr/>
        </p:nvSpPr>
        <p:spPr>
          <a:xfrm>
            <a:off x="812800" y="14916150"/>
            <a:ext cx="13546667" cy="1200150"/>
          </a:xfrm>
          <a:prstGeom prst="rect">
            <a:avLst/>
          </a:prstGeom>
          <a:solidFill>
            <a:srgbClr val="1A2D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AbsHdrTxt"/>
          <p:cNvSpPr/>
          <p:nvPr/>
        </p:nvSpPr>
        <p:spPr>
          <a:xfrm>
            <a:off x="1219200" y="14916150"/>
            <a:ext cx="13140267" cy="1200150"/>
          </a:xfrm>
          <a:prstGeom prst="rect">
            <a:avLst/>
          </a:prstGeom>
          <a:noFill/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ABSTRACT &amp; AIM OF THE WORK</a:t>
            </a:r>
          </a:p>
        </p:txBody>
      </p:sp>
      <p:sp>
        <p:nvSpPr>
          <p:cNvPr id="52" name="AbsBody"/>
          <p:cNvSpPr/>
          <p:nvPr/>
        </p:nvSpPr>
        <p:spPr>
          <a:xfrm>
            <a:off x="727981" y="15892177"/>
            <a:ext cx="13546667" cy="54297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AbsBodyTxt"/>
          <p:cNvSpPr/>
          <p:nvPr/>
        </p:nvSpPr>
        <p:spPr>
          <a:xfrm>
            <a:off x="1219200" y="16230600"/>
            <a:ext cx="12734933" cy="5201100"/>
          </a:xfrm>
          <a:prstGeom prst="rect">
            <a:avLst/>
          </a:prstGeom>
          <a:noFill/>
        </p:spPr>
        <p:txBody>
          <a:bodyPr wrap="square" lIns="182880" tIns="91440" rIns="182880" bIns="91440" rtlCol="0" anchor="t"/>
          <a:lstStyle/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7474F"/>
                </a:solidFill>
                <a:latin typeface="Calibri"/>
              </a:rPr>
              <a:t>Engineered an enterprise Business Intelligence solution analyzing 3,577+ historical and modern AI model records (1957–2026). Built on a robust Star Schema with 38 custom DAX measures and Power Query ETL processing, the platform transforms raw compute metrics into actionable decision-support dashboards[cite: 1, 2].</a:t>
            </a:r>
          </a:p>
          <a:p>
            <a:pPr>
              <a:spcAft>
                <a:spcPts val="600"/>
              </a:spcAft>
              <a:buNone/>
            </a:pPr>
            <a:endParaRPr lang="en-US" sz="2000" b="1" dirty="0">
              <a:solidFill>
                <a:srgbClr val="37474F"/>
              </a:solidFill>
              <a:latin typeface="Calibri"/>
            </a:endParaRP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7474F"/>
                </a:solidFill>
                <a:latin typeface="Calibri"/>
              </a:rPr>
              <a:t>Technical &amp; Strategic Deliverables: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7474F"/>
                </a:solidFill>
                <a:latin typeface="Calibri"/>
              </a:rPr>
              <a:t>• Enterprise BI Architecture: Designed a 6-page interactive Power BI report evaluating global compute monopolization, hardware cost dynamics, and AI era evolution[cite: 1, 2].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7474F"/>
                </a:solidFill>
                <a:latin typeface="Calibri"/>
              </a:rPr>
              <a:t>• Strategic Aim: Empower Egyptian and Arab policymakers and investors to transition from passive consumers to active AI creators, supporting Egypt Vision 2030 and national digital sovereignty[cite: 1, 2].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7474F"/>
                </a:solidFill>
                <a:latin typeface="Calibri"/>
              </a:rPr>
              <a:t>• Investment Guidance: Provide data-driven insights for regional tech funds and state initiatives to optimize compute infrastructure investments and regional readiness[cite: 1, 2].</a:t>
            </a:r>
          </a:p>
        </p:txBody>
      </p:sp>
      <p:sp>
        <p:nvSpPr>
          <p:cNvPr id="60" name="BgHdr"/>
          <p:cNvSpPr/>
          <p:nvPr/>
        </p:nvSpPr>
        <p:spPr>
          <a:xfrm>
            <a:off x="812800" y="21888900"/>
            <a:ext cx="13546667" cy="1200150"/>
          </a:xfrm>
          <a:prstGeom prst="rect">
            <a:avLst/>
          </a:prstGeom>
          <a:solidFill>
            <a:srgbClr val="1A2D5A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BgHdrTxt"/>
          <p:cNvSpPr/>
          <p:nvPr/>
        </p:nvSpPr>
        <p:spPr>
          <a:xfrm>
            <a:off x="1219200" y="21888900"/>
            <a:ext cx="13140267" cy="1200150"/>
          </a:xfrm>
          <a:prstGeom prst="rect">
            <a:avLst/>
          </a:prstGeom>
          <a:noFill/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2" name="BgBody"/>
          <p:cNvSpPr/>
          <p:nvPr/>
        </p:nvSpPr>
        <p:spPr>
          <a:xfrm>
            <a:off x="812800" y="23089050"/>
            <a:ext cx="13546667" cy="491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BgBodyTxt"/>
          <p:cNvSpPr/>
          <p:nvPr/>
        </p:nvSpPr>
        <p:spPr>
          <a:xfrm>
            <a:off x="1219200" y="23203350"/>
            <a:ext cx="12734933" cy="4686300"/>
          </a:xfrm>
          <a:prstGeom prst="rect">
            <a:avLst/>
          </a:prstGeom>
          <a:noFill/>
        </p:spPr>
        <p:txBody>
          <a:bodyPr wrap="square" lIns="182880" tIns="91440" rIns="182880" bIns="91440" rtlCol="0" anchor="t"/>
          <a:lstStyle/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7474F"/>
                </a:solidFill>
                <a:latin typeface="Calibri"/>
              </a:rPr>
              <a:t>• Compute Monopolization: Extreme market concentration of AI training infrastructure, hardware capital expenditure, and frontier foundation models controlled by a limited cluster of global tech giants.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7474F"/>
                </a:solidFill>
                <a:latin typeface="Calibri"/>
              </a:rPr>
              <a:t>• Data Fragmentation &amp; Quality Issues: High dispersion of historical and modern AI metrics (1957–2026) across disparate, unstructured repositories with inconsistent schemas and missing telemetry[cite: 1].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7474F"/>
                </a:solidFill>
                <a:latin typeface="Calibri"/>
              </a:rPr>
              <a:t>• Analytical Decision Bottlenecks: Reliance on manual spreadsheets causes slow decision velocity, calculation errors in dynamic metrics (e.g., HHI Index, YoY CAGR), and lack of scalable BI modeling[cite: 1].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7474F"/>
                </a:solidFill>
                <a:latin typeface="Calibri"/>
              </a:rPr>
              <a:t>• Regional Readiness Gap: Severe lack of centralized, data-driven visibility into Arab and Egyptian AI compute capacity, creating barriers for strategic national investments and policy planning[cite: 1].</a:t>
            </a:r>
          </a:p>
          <a:p>
            <a:pPr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7474F"/>
                </a:solidFill>
                <a:latin typeface="Calibri"/>
              </a:rPr>
              <a:t>• Sovereign Infrastructure Risk: Heavy dependency on foreign compute nodes threatens regional tech independence and limits alignment with strategic national initiatives like Egypt Vision 2030[cite: 1].</a:t>
            </a:r>
            <a:endParaRPr lang="en-US" sz="2000" b="0" dirty="0">
              <a:solidFill>
                <a:srgbClr val="37474F"/>
              </a:solidFill>
              <a:latin typeface="Calibri"/>
            </a:endParaRPr>
          </a:p>
        </p:txBody>
      </p:sp>
      <p:sp>
        <p:nvSpPr>
          <p:cNvPr id="70" name="ProbHdr"/>
          <p:cNvSpPr/>
          <p:nvPr/>
        </p:nvSpPr>
        <p:spPr>
          <a:xfrm>
            <a:off x="812800" y="28346850"/>
            <a:ext cx="13546667" cy="1200150"/>
          </a:xfrm>
          <a:prstGeom prst="rect">
            <a:avLst/>
          </a:prstGeom>
          <a:solidFill>
            <a:srgbClr val="1A2D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ProbHdrTxt"/>
          <p:cNvSpPr/>
          <p:nvPr/>
        </p:nvSpPr>
        <p:spPr>
          <a:xfrm>
            <a:off x="1219200" y="28346850"/>
            <a:ext cx="13140267" cy="1200150"/>
          </a:xfrm>
          <a:prstGeom prst="rect">
            <a:avLst/>
          </a:prstGeom>
          <a:noFill/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DATASET &amp; TOOLS USED</a:t>
            </a:r>
          </a:p>
        </p:txBody>
      </p:sp>
      <p:sp>
        <p:nvSpPr>
          <p:cNvPr id="72" name="ProbBody"/>
          <p:cNvSpPr/>
          <p:nvPr/>
        </p:nvSpPr>
        <p:spPr>
          <a:xfrm>
            <a:off x="792149" y="29497145"/>
            <a:ext cx="13546667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3" name="ProbBodyTxt"/>
          <p:cNvSpPr/>
          <p:nvPr/>
        </p:nvSpPr>
        <p:spPr>
          <a:xfrm>
            <a:off x="1219200" y="29661300"/>
            <a:ext cx="12734933" cy="2628900"/>
          </a:xfrm>
          <a:prstGeom prst="rect">
            <a:avLst/>
          </a:prstGeom>
          <a:noFill/>
        </p:spPr>
        <p:txBody>
          <a:bodyPr wrap="square" lIns="182880" tIns="91440" rIns="182880" bIns="91440" rtlCol="0" anchor="t"/>
          <a:lstStyle/>
          <a:p>
            <a:pPr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37474F"/>
                </a:solidFill>
                <a:latin typeface="Calibri"/>
              </a:rPr>
              <a:t>• Datasets: Epoch AI (3,577+ records, 1957–2026) for global compute metrics &amp; QIMMA Logs for Arab AI investments.</a:t>
            </a:r>
          </a:p>
          <a:p>
            <a:pPr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37474F"/>
                </a:solidFill>
                <a:latin typeface="Calibri"/>
              </a:rPr>
              <a:t>• ETL &amp; Modeling: Power Query (M Language) for deduplication &amp; Zero-Imputation; Enterprise Star Schema (1 Fact, 4 Dim Tables).</a:t>
            </a:r>
          </a:p>
          <a:p>
            <a:pPr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37474F"/>
                </a:solidFill>
                <a:latin typeface="Calibri"/>
              </a:rPr>
              <a:t>• Analytics &amp; BI Stack: DAX Engine with 38 custom measures (HHI, CAGR) &amp; Microsoft Power BI (6-Page Interactive Dashboard).</a:t>
            </a:r>
            <a:endParaRPr lang="en-US" sz="2400" b="0" dirty="0">
              <a:solidFill>
                <a:srgbClr val="37474F"/>
              </a:solidFill>
              <a:latin typeface="Calibri"/>
            </a:endParaRPr>
          </a:p>
        </p:txBody>
      </p:sp>
      <p:sp>
        <p:nvSpPr>
          <p:cNvPr id="80" name="MethHdr"/>
          <p:cNvSpPr/>
          <p:nvPr/>
        </p:nvSpPr>
        <p:spPr>
          <a:xfrm>
            <a:off x="15172267" y="14916150"/>
            <a:ext cx="13546667" cy="1200150"/>
          </a:xfrm>
          <a:prstGeom prst="rect">
            <a:avLst/>
          </a:prstGeom>
          <a:solidFill>
            <a:srgbClr val="1E5CA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MethHdrTxt"/>
          <p:cNvSpPr/>
          <p:nvPr/>
        </p:nvSpPr>
        <p:spPr>
          <a:xfrm>
            <a:off x="15578667" y="14916150"/>
            <a:ext cx="13140267" cy="1200150"/>
          </a:xfrm>
          <a:prstGeom prst="rect">
            <a:avLst/>
          </a:prstGeom>
          <a:noFill/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METHODOLOGY &amp; SYSTEM ARCHITECTURE</a:t>
            </a:r>
          </a:p>
        </p:txBody>
      </p:sp>
      <p:sp>
        <p:nvSpPr>
          <p:cNvPr id="82" name="MethBody"/>
          <p:cNvSpPr/>
          <p:nvPr/>
        </p:nvSpPr>
        <p:spPr>
          <a:xfrm>
            <a:off x="15172267" y="16116300"/>
            <a:ext cx="13546667" cy="5429700"/>
          </a:xfrm>
          <a:prstGeom prst="rect">
            <a:avLst/>
          </a:prstGeom>
          <a:solidFill>
            <a:srgbClr val="E8F4FD"/>
          </a:solidFill>
          <a:ln w="12700">
            <a:solidFill>
              <a:srgbClr val="1E5CA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MethBodyTxt"/>
          <p:cNvSpPr/>
          <p:nvPr/>
        </p:nvSpPr>
        <p:spPr>
          <a:xfrm>
            <a:off x="15578667" y="16230600"/>
            <a:ext cx="12734933" cy="5201100"/>
          </a:xfrm>
          <a:prstGeom prst="rect">
            <a:avLst/>
          </a:prstGeom>
          <a:noFill/>
        </p:spPr>
        <p:txBody>
          <a:bodyPr wrap="square" lIns="182880" tIns="91440" rIns="182880" bIns="91440" rtlCol="0" anchor="t"/>
          <a:lstStyle/>
          <a:p>
            <a:pPr marL="274638" indent="-274638">
              <a:spcAft>
                <a:spcPts val="400"/>
              </a:spcAft>
              <a:buChar char="▶"/>
            </a:pPr>
            <a:r>
              <a:rPr lang="en-US" sz="2400" b="1" dirty="0">
                <a:solidFill>
                  <a:srgbClr val="1A2D5A"/>
                </a:solidFill>
                <a:latin typeface="Calibri"/>
              </a:rPr>
              <a:t>• Layer 1 – Data Ingestion: Raw ingestion of 3,577+ historical and modern AI model records (1957–2026) sourced from Epoch AI and specialized regional datasets.</a:t>
            </a:r>
          </a:p>
          <a:p>
            <a:pPr marL="274638" indent="-274638">
              <a:spcAft>
                <a:spcPts val="400"/>
              </a:spcAft>
              <a:buChar char="▶"/>
            </a:pPr>
            <a:r>
              <a:rPr lang="en-US" sz="2400" b="1" dirty="0">
                <a:solidFill>
                  <a:srgbClr val="1A2D5A"/>
                </a:solidFill>
                <a:latin typeface="Calibri"/>
              </a:rPr>
              <a:t>• Layer 2 – ETL &amp; Data Cleansing: Power Query (M Language) pipeline for structural deduplication, strict schema typing, dynamic missing-value management, and custom Zero-Imputation logic.</a:t>
            </a:r>
          </a:p>
          <a:p>
            <a:pPr marL="274638" indent="-274638">
              <a:spcAft>
                <a:spcPts val="400"/>
              </a:spcAft>
              <a:buChar char="▶"/>
            </a:pPr>
            <a:r>
              <a:rPr lang="en-US" sz="2400" b="1" dirty="0">
                <a:solidFill>
                  <a:srgbClr val="1A2D5A"/>
                </a:solidFill>
                <a:latin typeface="Calibri"/>
              </a:rPr>
              <a:t>• Layer 3 – Data Modeling: Robust Enterprise Star Schema featuring 1 Central Fact Table (</a:t>
            </a:r>
            <a:r>
              <a:rPr lang="en-US" sz="2400" b="1" dirty="0" err="1">
                <a:solidFill>
                  <a:srgbClr val="1A2D5A"/>
                </a:solidFill>
                <a:latin typeface="Calibri"/>
              </a:rPr>
              <a:t>all_ai_models_FINAL</a:t>
            </a:r>
            <a:r>
              <a:rPr lang="en-US" sz="2400" b="1" dirty="0">
                <a:solidFill>
                  <a:srgbClr val="1A2D5A"/>
                </a:solidFill>
                <a:latin typeface="Calibri"/>
              </a:rPr>
              <a:t>) linked via 1-to-Many relationships to 4 Dimension Tables (</a:t>
            </a:r>
            <a:r>
              <a:rPr lang="en-US" sz="2400" b="1" dirty="0" err="1">
                <a:solidFill>
                  <a:srgbClr val="1A2D5A"/>
                </a:solidFill>
                <a:latin typeface="Calibri"/>
              </a:rPr>
              <a:t>Dim_Date</a:t>
            </a:r>
            <a:r>
              <a:rPr lang="en-US" sz="2400" b="1" dirty="0">
                <a:solidFill>
                  <a:srgbClr val="1A2D5A"/>
                </a:solidFill>
                <a:latin typeface="Calibri"/>
              </a:rPr>
              <a:t>, </a:t>
            </a:r>
            <a:r>
              <a:rPr lang="en-US" sz="2400" b="1" dirty="0" err="1">
                <a:solidFill>
                  <a:srgbClr val="1A2D5A"/>
                </a:solidFill>
                <a:latin typeface="Calibri"/>
              </a:rPr>
              <a:t>Dim_Country</a:t>
            </a:r>
            <a:r>
              <a:rPr lang="en-US" sz="2400" b="1" dirty="0">
                <a:solidFill>
                  <a:srgbClr val="1A2D5A"/>
                </a:solidFill>
                <a:latin typeface="Calibri"/>
              </a:rPr>
              <a:t>, </a:t>
            </a:r>
            <a:r>
              <a:rPr lang="en-US" sz="2400" b="1" dirty="0" err="1">
                <a:solidFill>
                  <a:srgbClr val="1A2D5A"/>
                </a:solidFill>
                <a:latin typeface="Calibri"/>
              </a:rPr>
              <a:t>Dim_Organization</a:t>
            </a:r>
            <a:r>
              <a:rPr lang="en-US" sz="2400" b="1" dirty="0">
                <a:solidFill>
                  <a:srgbClr val="1A2D5A"/>
                </a:solidFill>
                <a:latin typeface="Calibri"/>
              </a:rPr>
              <a:t>, </a:t>
            </a:r>
            <a:r>
              <a:rPr lang="en-US" sz="2400" b="1" dirty="0" err="1">
                <a:solidFill>
                  <a:srgbClr val="1A2D5A"/>
                </a:solidFill>
                <a:latin typeface="Calibri"/>
              </a:rPr>
              <a:t>Dim_Domain</a:t>
            </a:r>
            <a:r>
              <a:rPr lang="en-US" sz="2400" b="1" dirty="0">
                <a:solidFill>
                  <a:srgbClr val="1A2D5A"/>
                </a:solidFill>
                <a:latin typeface="Calibri"/>
              </a:rPr>
              <a:t>).</a:t>
            </a:r>
          </a:p>
          <a:p>
            <a:pPr marL="274638" indent="-274638">
              <a:spcAft>
                <a:spcPts val="400"/>
              </a:spcAft>
              <a:buChar char="▶"/>
            </a:pPr>
            <a:r>
              <a:rPr lang="en-US" sz="2400" b="1" dirty="0">
                <a:solidFill>
                  <a:srgbClr val="1A2D5A"/>
                </a:solidFill>
                <a:latin typeface="Calibri"/>
              </a:rPr>
              <a:t>• Layer 4 – Analytics Engine: 38 custom DAX measures engineered for dynamic Herfindahl-Hirschman Index (HHI) compute concentration, YoY CAGR metrics, and complex Time Intelligence aggregations.</a:t>
            </a:r>
          </a:p>
          <a:p>
            <a:pPr marL="274638" indent="-274638">
              <a:spcAft>
                <a:spcPts val="400"/>
              </a:spcAft>
              <a:buChar char="▶"/>
            </a:pPr>
            <a:r>
              <a:rPr lang="en-US" sz="2400" b="1" dirty="0">
                <a:solidFill>
                  <a:srgbClr val="1A2D5A"/>
                </a:solidFill>
                <a:latin typeface="Calibri"/>
              </a:rPr>
              <a:t>• Layer 5 – Presentation Layer: A 6-page interactive executive Power BI Dashboard designed for strategic analysis, dynamic cross-filtering, and decision support.</a:t>
            </a:r>
          </a:p>
        </p:txBody>
      </p:sp>
      <p:sp>
        <p:nvSpPr>
          <p:cNvPr id="900" name="SysHdr"/>
          <p:cNvSpPr/>
          <p:nvPr/>
        </p:nvSpPr>
        <p:spPr>
          <a:xfrm>
            <a:off x="15172267" y="21888900"/>
            <a:ext cx="13546667" cy="1200150"/>
          </a:xfrm>
          <a:prstGeom prst="rect">
            <a:avLst/>
          </a:prstGeom>
          <a:solidFill>
            <a:srgbClr val="1A2D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SysHdrTxt"/>
          <p:cNvSpPr/>
          <p:nvPr/>
        </p:nvSpPr>
        <p:spPr>
          <a:xfrm>
            <a:off x="15578667" y="21888900"/>
            <a:ext cx="13140267" cy="1200150"/>
          </a:xfrm>
          <a:prstGeom prst="rect">
            <a:avLst/>
          </a:prstGeom>
          <a:noFill/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SYSTEM OVERVIEW &amp; DASHBOARD VISUALS</a:t>
            </a:r>
          </a:p>
        </p:txBody>
      </p:sp>
      <p:sp>
        <p:nvSpPr>
          <p:cNvPr id="91" name="VisTxt"/>
          <p:cNvSpPr/>
          <p:nvPr/>
        </p:nvSpPr>
        <p:spPr>
          <a:xfrm>
            <a:off x="15578667" y="31030515"/>
            <a:ext cx="12734933" cy="137398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buNone/>
            </a:pPr>
            <a:r>
              <a:rPr lang="en-US" sz="1300" i="1" dirty="0">
                <a:solidFill>
                  <a:srgbClr val="90A4AE"/>
                </a:solidFill>
                <a:latin typeface="Calibri"/>
              </a:rPr>
              <a:t>6 interconnected dashboard views: Executive Overview, Training Compute &amp; Hardware Dynamics, Model Openness &amp; Accessibility, Market Concentration &amp; HHI Analysis, Arab &amp; Egypt AI Opportunities, and Detailed Record Explorer — with dynamic cross-filtering, multi-currency conversion, and automated drill-through.</a:t>
            </a:r>
          </a:p>
        </p:txBody>
      </p:sp>
      <p:sp>
        <p:nvSpPr>
          <p:cNvPr id="100" name="ResHdr"/>
          <p:cNvSpPr/>
          <p:nvPr/>
        </p:nvSpPr>
        <p:spPr>
          <a:xfrm>
            <a:off x="29531733" y="14916150"/>
            <a:ext cx="13546667" cy="1200150"/>
          </a:xfrm>
          <a:prstGeom prst="rect">
            <a:avLst/>
          </a:prstGeom>
          <a:solidFill>
            <a:srgbClr val="C8A84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ResHdrTxt"/>
          <p:cNvSpPr/>
          <p:nvPr/>
        </p:nvSpPr>
        <p:spPr>
          <a:xfrm>
            <a:off x="29938133" y="14916150"/>
            <a:ext cx="13140267" cy="1200150"/>
          </a:xfrm>
          <a:prstGeom prst="rect">
            <a:avLst/>
          </a:prstGeom>
          <a:noFill/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RESULTS &amp; KEY ANALYTICAL INSIGHTS</a:t>
            </a:r>
          </a:p>
        </p:txBody>
      </p:sp>
      <p:sp>
        <p:nvSpPr>
          <p:cNvPr id="102" name="ResBody"/>
          <p:cNvSpPr/>
          <p:nvPr/>
        </p:nvSpPr>
        <p:spPr>
          <a:xfrm>
            <a:off x="29531733" y="16116300"/>
            <a:ext cx="13546667" cy="5429700"/>
          </a:xfrm>
          <a:prstGeom prst="rect">
            <a:avLst/>
          </a:prstGeom>
          <a:solidFill>
            <a:srgbClr val="FFFDE7"/>
          </a:solidFill>
          <a:ln w="12700">
            <a:solidFill>
              <a:srgbClr val="C8A8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ResBodyTxt"/>
          <p:cNvSpPr/>
          <p:nvPr/>
        </p:nvSpPr>
        <p:spPr>
          <a:xfrm>
            <a:off x="29938133" y="16230600"/>
            <a:ext cx="12734933" cy="5201100"/>
          </a:xfrm>
          <a:prstGeom prst="rect">
            <a:avLst/>
          </a:prstGeom>
          <a:noFill/>
        </p:spPr>
        <p:txBody>
          <a:bodyPr wrap="square" lIns="182880" tIns="91440" rIns="182880" bIns="91440" rtlCol="0" anchor="t"/>
          <a:lstStyle/>
          <a:p>
            <a:pPr marL="274638" indent="-274638">
              <a:spcAft>
                <a:spcPts val="400"/>
              </a:spcAft>
              <a:buChar char="▶"/>
            </a:pPr>
            <a:r>
              <a:rPr lang="en-US" sz="2400" b="1" dirty="0">
                <a:solidFill>
                  <a:srgbClr val="1A2D5A"/>
                </a:solidFill>
                <a:latin typeface="Calibri"/>
              </a:rPr>
              <a:t>• Global Market Concentration (HHI): Automated HHI DAX calculations revealed high compute monopolization in training hardware and frontier AI models, dominating global FLOP expenditures[cite: 1].</a:t>
            </a:r>
          </a:p>
          <a:p>
            <a:pPr marL="274638" indent="-274638">
              <a:spcAft>
                <a:spcPts val="400"/>
              </a:spcAft>
              <a:buChar char="▶"/>
            </a:pPr>
            <a:r>
              <a:rPr lang="en-US" sz="2400" b="1" dirty="0">
                <a:solidFill>
                  <a:srgbClr val="1A2D5A"/>
                </a:solidFill>
                <a:latin typeface="Calibri"/>
              </a:rPr>
              <a:t>• Model Openness &amp; Accessibility Trends: Quantitative shift analysis tracking Open-Weights vs. Closed Proprietary models showed a widening compute gap in enterprise-grade LLMs[cite: 1].</a:t>
            </a:r>
          </a:p>
          <a:p>
            <a:pPr marL="274638" indent="-274638">
              <a:spcAft>
                <a:spcPts val="400"/>
              </a:spcAft>
              <a:buChar char="▶"/>
            </a:pPr>
            <a:r>
              <a:rPr lang="en-US" sz="2400" b="1" dirty="0">
                <a:solidFill>
                  <a:srgbClr val="1A2D5A"/>
                </a:solidFill>
                <a:latin typeface="Calibri"/>
              </a:rPr>
              <a:t>• AI Era &amp; Hardware Cost Economics: Evaluated historical trends across compute eras (1957–2026), highlighting exponential hardware capital expenditure growth alongside training cost scaling[cite: 1].</a:t>
            </a:r>
          </a:p>
          <a:p>
            <a:pPr marL="274638" indent="-274638">
              <a:spcAft>
                <a:spcPts val="400"/>
              </a:spcAft>
              <a:buChar char="▶"/>
            </a:pPr>
            <a:r>
              <a:rPr lang="en-US" sz="2400" b="1" dirty="0">
                <a:solidFill>
                  <a:srgbClr val="1A2D5A"/>
                </a:solidFill>
                <a:latin typeface="Calibri"/>
              </a:rPr>
              <a:t>• Arab World &amp; Egypt Strategic Readiness: Benchmarked regional compute capabilities, investment flows, and infrastructure readiness across Arab nations, identifying actionable opportunities for localized AI compute nodes to support Egypt Vision 2030[cite: 1].</a:t>
            </a:r>
          </a:p>
          <a:p>
            <a:pPr marL="274638" indent="-274638">
              <a:spcAft>
                <a:spcPts val="400"/>
              </a:spcAft>
              <a:buChar char="▶"/>
            </a:pPr>
            <a:r>
              <a:rPr lang="en-US" sz="2400" b="1" dirty="0">
                <a:solidFill>
                  <a:srgbClr val="1A2D5A"/>
                </a:solidFill>
                <a:latin typeface="Calibri"/>
              </a:rPr>
              <a:t>• Interactive Decision Support: Delivered a 6-page Power BI dashboard enabling real-time scenario filtering for policymakers, tech VC funds, and infrastructure planners[cite: 1].</a:t>
            </a:r>
          </a:p>
        </p:txBody>
      </p:sp>
      <p:sp>
        <p:nvSpPr>
          <p:cNvPr id="110" name="ConHdr"/>
          <p:cNvSpPr/>
          <p:nvPr/>
        </p:nvSpPr>
        <p:spPr>
          <a:xfrm>
            <a:off x="29531733" y="21888900"/>
            <a:ext cx="13546667" cy="1200150"/>
          </a:xfrm>
          <a:prstGeom prst="rect">
            <a:avLst/>
          </a:prstGeom>
          <a:solidFill>
            <a:srgbClr val="C8A84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ConHdrTxt"/>
          <p:cNvSpPr/>
          <p:nvPr/>
        </p:nvSpPr>
        <p:spPr>
          <a:xfrm>
            <a:off x="29938133" y="21888900"/>
            <a:ext cx="13140267" cy="1200150"/>
          </a:xfrm>
          <a:prstGeom prst="rect">
            <a:avLst/>
          </a:prstGeom>
          <a:noFill/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12" name="ConBody"/>
          <p:cNvSpPr/>
          <p:nvPr/>
        </p:nvSpPr>
        <p:spPr>
          <a:xfrm>
            <a:off x="29531733" y="23089050"/>
            <a:ext cx="13546667" cy="4571550"/>
          </a:xfrm>
          <a:prstGeom prst="rect">
            <a:avLst/>
          </a:prstGeom>
          <a:solidFill>
            <a:srgbClr val="FFFDE7"/>
          </a:solidFill>
          <a:ln w="12700">
            <a:solidFill>
              <a:srgbClr val="C8A8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ConBodyTxt"/>
          <p:cNvSpPr/>
          <p:nvPr/>
        </p:nvSpPr>
        <p:spPr>
          <a:xfrm>
            <a:off x="29938133" y="23203350"/>
            <a:ext cx="12734933" cy="4342950"/>
          </a:xfrm>
          <a:prstGeom prst="rect">
            <a:avLst/>
          </a:prstGeom>
          <a:noFill/>
        </p:spPr>
        <p:txBody>
          <a:bodyPr wrap="square" lIns="182880" tIns="91440" rIns="182880" bIns="91440" rtlCol="0" anchor="t"/>
          <a:lstStyle/>
          <a:p>
            <a:pPr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37474F"/>
                </a:solidFill>
                <a:latin typeface="Calibri"/>
              </a:rPr>
              <a:t>• Enterprise Intelligence Delivered: Engineered a scalable, data-driven BI solution converting 3,577+ raw AI records into a 6-page interactive Power BI dashboard.</a:t>
            </a:r>
          </a:p>
          <a:p>
            <a:pPr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37474F"/>
                </a:solidFill>
                <a:latin typeface="Calibri"/>
              </a:rPr>
              <a:t>• Strategic Decision Support: Replaced intuition-based planning with automated DAX metrics (HHI, CAGR) to guide infrastructure capital allocation and technology investments[cite: 1].</a:t>
            </a:r>
          </a:p>
          <a:p>
            <a:pPr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37474F"/>
                </a:solidFill>
                <a:latin typeface="Calibri"/>
              </a:rPr>
              <a:t>• National AI Advancement: Provided actionable roadmaps for policymakers and Tech VCs to localize specialized compute capacity and accelerate Egypt's digital sovereignty in alignment with Egypt Vision 2030[cite: 1].</a:t>
            </a:r>
          </a:p>
        </p:txBody>
      </p:sp>
      <p:sp>
        <p:nvSpPr>
          <p:cNvPr id="120" name="AckHdr"/>
          <p:cNvSpPr/>
          <p:nvPr/>
        </p:nvSpPr>
        <p:spPr>
          <a:xfrm>
            <a:off x="29531733" y="27890100"/>
            <a:ext cx="13546667" cy="1200150"/>
          </a:xfrm>
          <a:prstGeom prst="rect">
            <a:avLst/>
          </a:prstGeom>
          <a:solidFill>
            <a:srgbClr val="1A2D5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AckHdrTxt"/>
          <p:cNvSpPr/>
          <p:nvPr/>
        </p:nvSpPr>
        <p:spPr>
          <a:xfrm>
            <a:off x="29938133" y="27890100"/>
            <a:ext cx="13140267" cy="1200150"/>
          </a:xfrm>
          <a:prstGeom prst="rect">
            <a:avLst/>
          </a:prstGeom>
          <a:noFill/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22" name="AckBody"/>
          <p:cNvSpPr/>
          <p:nvPr/>
        </p:nvSpPr>
        <p:spPr>
          <a:xfrm>
            <a:off x="29531733" y="29090250"/>
            <a:ext cx="13546667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AckBodyTxt"/>
          <p:cNvSpPr/>
          <p:nvPr/>
        </p:nvSpPr>
        <p:spPr>
          <a:xfrm>
            <a:off x="29938133" y="29204550"/>
            <a:ext cx="12734933" cy="3086100"/>
          </a:xfrm>
          <a:prstGeom prst="rect">
            <a:avLst/>
          </a:prstGeom>
          <a:noFill/>
        </p:spPr>
        <p:txBody>
          <a:bodyPr wrap="square" lIns="182880" tIns="91440" rIns="182880" bIns="91440" rtlCol="0" anchor="t"/>
          <a:lstStyle/>
          <a:p>
            <a:pPr marL="274638" indent="-274638">
              <a:spcAft>
                <a:spcPts val="400"/>
              </a:spcAft>
              <a:buChar char="▶"/>
            </a:pPr>
            <a:r>
              <a:rPr lang="en-US" sz="1800" b="1" dirty="0">
                <a:solidFill>
                  <a:srgbClr val="1A2D5A"/>
                </a:solidFill>
                <a:latin typeface="Calibri"/>
              </a:rPr>
              <a:t>• Automated Real-Time Data Pipelines: Integrate direct API connectors with Epoch AI and live tracking repositories for continuous, automated dataset refreshing.</a:t>
            </a:r>
          </a:p>
          <a:p>
            <a:pPr marL="274638" indent="-274638">
              <a:spcAft>
                <a:spcPts val="400"/>
              </a:spcAft>
              <a:buChar char="▶"/>
            </a:pPr>
            <a:r>
              <a:rPr lang="en-US" sz="1800" b="1" dirty="0">
                <a:solidFill>
                  <a:srgbClr val="1A2D5A"/>
                </a:solidFill>
                <a:latin typeface="Calibri"/>
              </a:rPr>
              <a:t>• Predictive Machine Learning Models: Develop predictive analytics models in Python to forecast compute demand, FLOPs growth trajectories, and GPU hardware cost trends[cite: 1].</a:t>
            </a:r>
          </a:p>
          <a:p>
            <a:pPr marL="274638" indent="-274638">
              <a:spcAft>
                <a:spcPts val="400"/>
              </a:spcAft>
              <a:buChar char="▶"/>
            </a:pPr>
            <a:r>
              <a:rPr lang="en-US" sz="1800" b="1" dirty="0">
                <a:solidFill>
                  <a:srgbClr val="1A2D5A"/>
                </a:solidFill>
                <a:latin typeface="Calibri"/>
              </a:rPr>
              <a:t>• Explainable AI (XAI) &amp; Scenario Modeling: Implement transparent decision-support layers to enable dynamic sensitivity analysis for public-sector investments[cite: 1].</a:t>
            </a:r>
          </a:p>
          <a:p>
            <a:pPr marL="274638" indent="-274638">
              <a:spcAft>
                <a:spcPts val="400"/>
              </a:spcAft>
              <a:buChar char="▶"/>
            </a:pPr>
            <a:r>
              <a:rPr lang="en-US" sz="1800" b="1" dirty="0">
                <a:solidFill>
                  <a:srgbClr val="1A2D5A"/>
                </a:solidFill>
                <a:latin typeface="Calibri"/>
              </a:rPr>
              <a:t>• Regional Ecosystem Expansion: Broaden tracking parameters to cover additional MENA region datasets, local startup infrastructure capacity, and AI policy shifts[cite: 1].</a:t>
            </a:r>
          </a:p>
          <a:p>
            <a:pPr marL="274638" indent="-274638">
              <a:spcAft>
                <a:spcPts val="400"/>
              </a:spcAft>
              <a:buChar char="▶"/>
            </a:pPr>
            <a:r>
              <a:rPr lang="en-US" sz="1800" b="1" dirty="0">
                <a:solidFill>
                  <a:srgbClr val="1A2D5A"/>
                </a:solidFill>
                <a:latin typeface="Calibri"/>
              </a:rPr>
              <a:t>• Advanced BI Enhancements: Integrate automated alerts and key risk indicators (KRIs) within Power BI to support real-time decision-making for policymakers[cite: 1].</a:t>
            </a:r>
          </a:p>
        </p:txBody>
      </p:sp>
      <p:sp>
        <p:nvSpPr>
          <p:cNvPr id="130" name="RefBand"/>
          <p:cNvSpPr/>
          <p:nvPr/>
        </p:nvSpPr>
        <p:spPr>
          <a:xfrm>
            <a:off x="0" y="32518800"/>
            <a:ext cx="43891200" cy="400050"/>
          </a:xfrm>
          <a:prstGeom prst="rect">
            <a:avLst/>
          </a:prstGeom>
          <a:solidFill>
            <a:srgbClr val="1A2D5A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1" name="RefLabel"/>
          <p:cNvSpPr/>
          <p:nvPr/>
        </p:nvSpPr>
        <p:spPr>
          <a:xfrm>
            <a:off x="812800" y="32518800"/>
            <a:ext cx="5333333" cy="400050"/>
          </a:xfrm>
          <a:prstGeom prst="rect">
            <a:avLst/>
          </a:prstGeom>
          <a:noFill/>
        </p:spPr>
        <p:txBody>
          <a:bodyPr wrap="square" lIns="182880" tIns="45720" rIns="91440" bIns="45720" rtlCol="0" anchor="ctr"/>
          <a:lstStyle/>
          <a:p>
            <a:pPr algn="l">
              <a:buNone/>
            </a:pPr>
            <a:r>
              <a:rPr lang="en-US" sz="2000" b="1" dirty="0">
                <a:solidFill>
                  <a:srgbClr val="C8A84B"/>
                </a:solidFill>
                <a:latin typeface="Calibri"/>
              </a:rPr>
              <a:t>References:</a:t>
            </a:r>
          </a:p>
        </p:txBody>
      </p:sp>
      <p:sp>
        <p:nvSpPr>
          <p:cNvPr id="132" name="RefTxt"/>
          <p:cNvSpPr/>
          <p:nvPr/>
        </p:nvSpPr>
        <p:spPr>
          <a:xfrm>
            <a:off x="5942933" y="32518800"/>
            <a:ext cx="37338667" cy="400050"/>
          </a:xfrm>
          <a:prstGeom prst="rect">
            <a:avLst/>
          </a:prstGeom>
          <a:noFill/>
        </p:spPr>
        <p:txBody>
          <a:bodyPr wrap="square" lIns="182880" tIns="0" rIns="182880" bIns="0" rtlCol="0" anchor="ctr"/>
          <a:lstStyle/>
          <a:p>
            <a:pPr>
              <a:buNone/>
            </a:pPr>
            <a:r>
              <a:rPr lang="en-US" sz="1800" dirty="0">
                <a:solidFill>
                  <a:srgbClr val="FFFFFF"/>
                </a:solidFill>
                <a:latin typeface="Calibri"/>
              </a:rPr>
              <a:t>[1] Epoch AI Notable Systems Database (1957–2026) | [2] QIMMA Arab AI Benchmark &amp; Investment Logs | [3] Microsoft Power BI &amp; DAX Documentation | [4] Egypt Vision 2030 &amp; MCIT Digital Strategy</a:t>
            </a:r>
          </a:p>
        </p:txBody>
      </p:sp>
      <p:sp>
        <p:nvSpPr>
          <p:cNvPr id="140" name="FooterBand"/>
          <p:cNvSpPr/>
          <p:nvPr/>
        </p:nvSpPr>
        <p:spPr>
          <a:xfrm>
            <a:off x="0" y="32918400"/>
            <a:ext cx="43891200" cy="0"/>
          </a:xfrm>
          <a:prstGeom prst="rect">
            <a:avLst/>
          </a:prstGeom>
          <a:solidFill>
            <a:srgbClr val="00AEE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2" descr="Previewing Image attachment">
            <a:extLst>
              <a:ext uri="{FF2B5EF4-FFF2-40B4-BE49-F238E27FC236}">
                <a16:creationId xmlns:a16="http://schemas.microsoft.com/office/drawing/2014/main" id="{2E07A6A9-7DB0-42D7-A69C-00B1C42179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42400" y="16344900"/>
            <a:ext cx="4064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4" descr="Previewing Image attachment">
            <a:extLst>
              <a:ext uri="{FF2B5EF4-FFF2-40B4-BE49-F238E27FC236}">
                <a16:creationId xmlns:a16="http://schemas.microsoft.com/office/drawing/2014/main" id="{583D4F95-5BA0-4C40-9BAC-1FDD89AC63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45600" y="16459200"/>
            <a:ext cx="404243" cy="2286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94208E-1DA2-40BB-893E-5E78E137D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44730" y="23069132"/>
            <a:ext cx="13574204" cy="9221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1640723D6D8345BE376EBAC22B24B4" ma:contentTypeVersion="13" ma:contentTypeDescription="Create a new document." ma:contentTypeScope="" ma:versionID="37895d6a65c2fc2067a3e4cb28fe9763">
  <xsd:schema xmlns:xsd="http://www.w3.org/2001/XMLSchema" xmlns:xs="http://www.w3.org/2001/XMLSchema" xmlns:p="http://schemas.microsoft.com/office/2006/metadata/properties" xmlns:ns3="0a07b5c4-8948-41fb-ba74-9068271bb40a" xmlns:ns4="7b3d286f-db25-4301-b1a3-6d0151bd5deb" targetNamespace="http://schemas.microsoft.com/office/2006/metadata/properties" ma:root="true" ma:fieldsID="b4b12d473cd0c7bfc981713dc8556b46" ns3:_="" ns4:_="">
    <xsd:import namespace="0a07b5c4-8948-41fb-ba74-9068271bb40a"/>
    <xsd:import namespace="7b3d286f-db25-4301-b1a3-6d0151bd5de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07b5c4-8948-41fb-ba74-9068271bb4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3d286f-db25-4301-b1a3-6d0151bd5de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662949C9-76FF-431A-92E8-AB2B710A2D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F1E373-C968-4BF3-94CA-949069B62E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07b5c4-8948-41fb-ba74-9068271bb40a"/>
    <ds:schemaRef ds:uri="7b3d286f-db25-4301-b1a3-6d0151bd5d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699B98-1B2E-4129-B003-21C174FA28CF}">
  <ds:schemaRefs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openxmlformats.org/package/2006/metadata/core-properties"/>
    <ds:schemaRef ds:uri="0a07b5c4-8948-41fb-ba74-9068271bb40a"/>
    <ds:schemaRef ds:uri="http://schemas.microsoft.com/office/2006/metadata/properties"/>
    <ds:schemaRef ds:uri="http://schemas.microsoft.com/office/infopath/2007/PartnerControls"/>
    <ds:schemaRef ds:uri="7b3d286f-db25-4301-b1a3-6d0151bd5deb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1181</Words>
  <Application>Microsoft Office PowerPoint</Application>
  <PresentationFormat>Custom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MS PGothic</vt:lpstr>
      <vt:lpstr>MS PGothic</vt:lpstr>
      <vt:lpstr>Arial</vt:lpstr>
      <vt:lpstr>Bahnschrift Light</vt:lpstr>
      <vt:lpstr>Calibri</vt:lpstr>
      <vt:lpstr>Diwani Letter</vt:lpstr>
      <vt:lpstr>Georgia</vt:lpstr>
      <vt:lpstr>Office Theme</vt:lpstr>
      <vt:lpstr>PowerPoint Presentation</vt:lpstr>
    </vt:vector>
  </TitlesOfParts>
  <Company>University of Alberta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48x36 Template - 3 column</dc:title>
  <dc:creator>Cooper Miranda</dc:creator>
  <cp:lastModifiedBy>A-FF-L1-D13</cp:lastModifiedBy>
  <cp:revision>147</cp:revision>
  <dcterms:created xsi:type="dcterms:W3CDTF">2008-12-03T18:49:35Z</dcterms:created>
  <dcterms:modified xsi:type="dcterms:W3CDTF">2026-09-10T13:57:40Z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0x0101006D1640723D6D8345BE376EBAC22B24B4</vt:lpwstr>
  </property>
</Properties>
</file>