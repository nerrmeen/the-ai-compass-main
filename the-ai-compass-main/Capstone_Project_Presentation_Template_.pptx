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4" r:id="rId6"/>
    <p:sldId id="261" r:id="rId7"/>
    <p:sldId id="262" r:id="rId8"/>
    <p:sldId id="263" r:id="rId9"/>
    <p:sldId id="264" r:id="rId10"/>
    <p:sldId id="266" r:id="rId11"/>
    <p:sldId id="267" r:id="rId12"/>
    <p:sldId id="269" r:id="rId13"/>
    <p:sldId id="270" r:id="rId14"/>
    <p:sldId id="271" r:id="rId15"/>
    <p:sldId id="272" r:id="rId16"/>
    <p:sldId id="273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3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2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1.png"/><Relationship Id="rId5" Type="http://schemas.openxmlformats.org/officeDocument/2006/relationships/tags" Target="../tags/tag5.xml"/><Relationship Id="rId10" Type="http://schemas.openxmlformats.org/officeDocument/2006/relationships/notesSlide" Target="../notesSlides/notesSlide1.xml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jpe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.jpe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epochai/epochdb" TargetMode="External"/><Relationship Id="rId4" Type="http://schemas.openxmlformats.org/officeDocument/2006/relationships/hyperlink" Target="https://epochai.org/data/notable-ai-systems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" y="228600"/>
            <a:ext cx="960120" cy="96012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77640" y="182880"/>
            <a:ext cx="1188720" cy="100584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0" y="274320"/>
            <a:ext cx="1600200" cy="82296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228600" y="1325880"/>
            <a:ext cx="8686800" cy="2286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274320" y="1463040"/>
            <a:ext cx="8595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endParaRPr lang="en-US" dirty="0"/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 Data-Driven Analysis of Global AI Compute Dependency 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and Arab AI Opportunities 	</a:t>
            </a:r>
          </a:p>
        </p:txBody>
      </p:sp>
      <p:sp>
        <p:nvSpPr>
          <p:cNvPr id="10" name="Text 5"/>
          <p:cNvSpPr/>
          <p:nvPr/>
        </p:nvSpPr>
        <p:spPr>
          <a:xfrm>
            <a:off x="274320" y="2377440"/>
            <a:ext cx="8595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CAPSTONE PROJECT PRESENTATION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1394460" y="2833179"/>
            <a:ext cx="6400800" cy="1920240"/>
          </a:xfrm>
          <a:prstGeom prst="rect">
            <a:avLst/>
          </a:prstGeom>
          <a:solidFill>
            <a:srgbClr val="0D1F3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1371600" y="2834640"/>
            <a:ext cx="64008" cy="192024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3" name="Text 8"/>
          <p:cNvSpPr/>
          <p:nvPr>
            <p:custDataLst>
              <p:tags r:id="rId1"/>
            </p:custDataLst>
          </p:nvPr>
        </p:nvSpPr>
        <p:spPr>
          <a:xfrm>
            <a:off x="1508760" y="2907792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/ Job Profile:</a:t>
            </a:r>
            <a:endParaRPr lang="en-US" sz="1000" dirty="0"/>
          </a:p>
        </p:txBody>
      </p:sp>
      <p:sp>
        <p:nvSpPr>
          <p:cNvPr id="14" name="Text 9"/>
          <p:cNvSpPr/>
          <p:nvPr>
            <p:custDataLst>
              <p:tags r:id="rId2"/>
            </p:custDataLst>
          </p:nvPr>
        </p:nvSpPr>
        <p:spPr>
          <a:xfrm>
            <a:off x="2834640" y="2907792"/>
            <a:ext cx="4800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Berlin Sans FB Demi" panose="020E0802020502020306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junior Data Analysis </a:t>
            </a:r>
            <a:endParaRPr lang="en-US" sz="1100" b="1" dirty="0">
              <a:latin typeface="Berlin Sans FB Demi" panose="020E0802020502020306" pitchFamily="34" charset="0"/>
            </a:endParaRPr>
          </a:p>
        </p:txBody>
      </p:sp>
      <p:sp>
        <p:nvSpPr>
          <p:cNvPr id="15" name="Text 10"/>
          <p:cNvSpPr/>
          <p:nvPr>
            <p:custDataLst>
              <p:tags r:id="rId3"/>
            </p:custDataLst>
          </p:nvPr>
        </p:nvSpPr>
        <p:spPr>
          <a:xfrm>
            <a:off x="1577340" y="3448367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Team:</a:t>
            </a:r>
            <a:endParaRPr lang="en-US" sz="1000" dirty="0"/>
          </a:p>
        </p:txBody>
      </p:sp>
      <p:sp>
        <p:nvSpPr>
          <p:cNvPr id="16" name="Text 11"/>
          <p:cNvSpPr/>
          <p:nvPr>
            <p:custDataLst>
              <p:tags r:id="rId4"/>
            </p:custDataLst>
          </p:nvPr>
        </p:nvSpPr>
        <p:spPr>
          <a:xfrm>
            <a:off x="2766060" y="3299460"/>
            <a:ext cx="4800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dirty="0"/>
          </a:p>
          <a:p>
            <a:r>
              <a:rPr lang="en-US" sz="1200" b="1" dirty="0">
                <a:solidFill>
                  <a:schemeClr val="bg1"/>
                </a:solidFill>
              </a:rPr>
              <a:t> The AI Compass </a:t>
            </a:r>
            <a:r>
              <a:rPr lang="en-US" sz="1100" b="1" dirty="0">
                <a:solidFill>
                  <a:schemeClr val="bg1"/>
                </a:solidFill>
              </a:rPr>
              <a:t>	</a:t>
            </a:r>
          </a:p>
          <a:p>
            <a:r>
              <a:rPr lang="en-US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Nermeen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Ahmed , Mariam Samir, Menna Mohamed, Shahd Mohamed , Amany Mohamed , </a:t>
            </a:r>
            <a:r>
              <a:rPr lang="en-US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Shrouq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Mera</a:t>
            </a:r>
            <a:endParaRPr lang="en-US" sz="1100" dirty="0"/>
          </a:p>
        </p:txBody>
      </p:sp>
      <p:sp>
        <p:nvSpPr>
          <p:cNvPr id="17" name="Text 12"/>
          <p:cNvSpPr/>
          <p:nvPr>
            <p:custDataLst>
              <p:tags r:id="rId5"/>
            </p:custDataLst>
          </p:nvPr>
        </p:nvSpPr>
        <p:spPr>
          <a:xfrm>
            <a:off x="1520190" y="3927793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Supervisor:</a:t>
            </a:r>
            <a:endParaRPr lang="en-US" sz="1000" dirty="0"/>
          </a:p>
        </p:txBody>
      </p:sp>
      <p:sp>
        <p:nvSpPr>
          <p:cNvPr id="18" name="Text 13"/>
          <p:cNvSpPr/>
          <p:nvPr>
            <p:custDataLst>
              <p:tags r:id="rId6"/>
            </p:custDataLst>
          </p:nvPr>
        </p:nvSpPr>
        <p:spPr>
          <a:xfrm>
            <a:off x="2788920" y="3811968"/>
            <a:ext cx="4800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dirty="0"/>
          </a:p>
          <a:p>
            <a:r>
              <a:rPr lang="en-US" sz="1100" b="1" dirty="0">
                <a:solidFill>
                  <a:schemeClr val="bg1"/>
                </a:solidFill>
              </a:rPr>
              <a:t> supervisor: Prof. Dr. Rania </a:t>
            </a:r>
            <a:r>
              <a:rPr lang="en-US" sz="1100" b="1" dirty="0" err="1">
                <a:solidFill>
                  <a:schemeClr val="bg1"/>
                </a:solidFill>
              </a:rPr>
              <a:t>Elgohary</a:t>
            </a:r>
            <a:r>
              <a:rPr lang="en-US" sz="1100" b="1" dirty="0">
                <a:solidFill>
                  <a:schemeClr val="bg1"/>
                </a:solidFill>
              </a:rPr>
              <a:t> Track Head: Dr. Ahmed Zakaria Academic Team: Dr. Yasser Ali instructor: Dr: Bassam </a:t>
            </a:r>
            <a:r>
              <a:rPr lang="en-US" sz="1100" b="1" dirty="0" err="1">
                <a:solidFill>
                  <a:schemeClr val="bg1"/>
                </a:solidFill>
              </a:rPr>
              <a:t>Elshoura</a:t>
            </a:r>
            <a:r>
              <a:rPr lang="en-US" sz="1100" b="1" dirty="0">
                <a:solidFill>
                  <a:schemeClr val="bg1"/>
                </a:solidFill>
              </a:rPr>
              <a:t> , YAT Company 	</a:t>
            </a:r>
          </a:p>
        </p:txBody>
      </p:sp>
      <p:sp>
        <p:nvSpPr>
          <p:cNvPr id="19" name="Text 14"/>
          <p:cNvSpPr/>
          <p:nvPr>
            <p:custDataLst>
              <p:tags r:id="rId7"/>
            </p:custDataLst>
          </p:nvPr>
        </p:nvSpPr>
        <p:spPr>
          <a:xfrm>
            <a:off x="1508760" y="4324477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Submission:</a:t>
            </a:r>
            <a:endParaRPr lang="en-US" sz="1000" dirty="0"/>
          </a:p>
        </p:txBody>
      </p:sp>
      <p:sp>
        <p:nvSpPr>
          <p:cNvPr id="20" name="Text 15"/>
          <p:cNvSpPr/>
          <p:nvPr>
            <p:custDataLst>
              <p:tags r:id="rId8"/>
            </p:custDataLst>
          </p:nvPr>
        </p:nvSpPr>
        <p:spPr>
          <a:xfrm>
            <a:off x="2785110" y="4350512"/>
            <a:ext cx="4800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September  2026</a:t>
            </a:r>
            <a:endParaRPr lang="en-US" sz="105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Agenda</a:t>
            </a:r>
            <a:endParaRPr lang="en-US" sz="3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97180" y="904240"/>
            <a:ext cx="502920" cy="621792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896112"/>
            <a:ext cx="502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45820" y="912114"/>
            <a:ext cx="3749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4467" y="778129"/>
            <a:ext cx="35661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br>
              <a:rPr lang="en-US" b="1" dirty="0"/>
            </a:br>
            <a:r>
              <a:rPr lang="en-US" sz="1300" b="1" dirty="0">
                <a:solidFill>
                  <a:schemeClr val="accent1">
                    <a:lumMod val="50000"/>
                  </a:schemeClr>
                </a:solidFill>
              </a:rPr>
              <a:t>Team Introduction &amp; Roles</a:t>
            </a:r>
          </a:p>
          <a:p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Members, specializations, and supervision details</a:t>
            </a:r>
          </a:p>
        </p:txBody>
      </p:sp>
      <p:sp>
        <p:nvSpPr>
          <p:cNvPr id="10" name="Shape 7"/>
          <p:cNvSpPr/>
          <p:nvPr/>
        </p:nvSpPr>
        <p:spPr>
          <a:xfrm>
            <a:off x="320040" y="1810512"/>
            <a:ext cx="502920" cy="621792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1810512"/>
            <a:ext cx="502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54710" y="1806067"/>
            <a:ext cx="3749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960120" y="1810512"/>
            <a:ext cx="35661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accent1">
                    <a:lumMod val="50000"/>
                  </a:schemeClr>
                </a:solidFill>
              </a:rPr>
              <a:t>Problem Statement &amp; Background</a:t>
            </a:r>
          </a:p>
          <a:p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Current operational bottlenecks and strategic needs</a:t>
            </a:r>
          </a:p>
        </p:txBody>
      </p:sp>
      <p:sp>
        <p:nvSpPr>
          <p:cNvPr id="14" name="Shape 11"/>
          <p:cNvSpPr/>
          <p:nvPr/>
        </p:nvSpPr>
        <p:spPr>
          <a:xfrm>
            <a:off x="331470" y="2711197"/>
            <a:ext cx="502920" cy="621792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2724912"/>
            <a:ext cx="502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891540" y="2724912"/>
            <a:ext cx="3749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960120" y="2724912"/>
            <a:ext cx="35661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accent1">
                    <a:lumMod val="50000"/>
                  </a:schemeClr>
                </a:solidFill>
              </a:rPr>
              <a:t>Objectives &amp; Project Scope</a:t>
            </a:r>
          </a:p>
          <a:p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SMART project milestones and deliverable boundaries</a:t>
            </a:r>
          </a:p>
        </p:txBody>
      </p:sp>
      <p:sp>
        <p:nvSpPr>
          <p:cNvPr id="18" name="Shape 15"/>
          <p:cNvSpPr/>
          <p:nvPr/>
        </p:nvSpPr>
        <p:spPr>
          <a:xfrm>
            <a:off x="320040" y="3639312"/>
            <a:ext cx="502920" cy="621792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3639312"/>
            <a:ext cx="502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91540" y="3639312"/>
            <a:ext cx="3749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0120" y="3639312"/>
            <a:ext cx="35661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accent1">
                    <a:lumMod val="50000"/>
                  </a:schemeClr>
                </a:solidFill>
              </a:rPr>
              <a:t>Architecture &amp; Pipeline</a:t>
            </a:r>
          </a:p>
          <a:p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Data modeling (Star Schema), ETL, and DAX engine</a:t>
            </a:r>
          </a:p>
        </p:txBody>
      </p:sp>
      <p:sp>
        <p:nvSpPr>
          <p:cNvPr id="22" name="Shape 19"/>
          <p:cNvSpPr/>
          <p:nvPr/>
        </p:nvSpPr>
        <p:spPr>
          <a:xfrm>
            <a:off x="4663440" y="896112"/>
            <a:ext cx="502920" cy="621792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63440" y="896112"/>
            <a:ext cx="502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5212080" y="896112"/>
            <a:ext cx="3749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03520" y="896112"/>
            <a:ext cx="35661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accent1">
                    <a:lumMod val="50000"/>
                  </a:schemeClr>
                </a:solidFill>
              </a:rPr>
              <a:t>Technology Stack &amp; Tools</a:t>
            </a:r>
          </a:p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Power BI Desktop, DAX, Power Query, and SQL</a:t>
            </a:r>
          </a:p>
        </p:txBody>
      </p:sp>
      <p:sp>
        <p:nvSpPr>
          <p:cNvPr id="26" name="Shape 23"/>
          <p:cNvSpPr/>
          <p:nvPr/>
        </p:nvSpPr>
        <p:spPr>
          <a:xfrm>
            <a:off x="4663440" y="1810512"/>
            <a:ext cx="502920" cy="621792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63440" y="1810512"/>
            <a:ext cx="502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5226050" y="1826514"/>
            <a:ext cx="3749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303520" y="1810512"/>
            <a:ext cx="35661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accent1">
                    <a:lumMod val="50000"/>
                  </a:schemeClr>
                </a:solidFill>
              </a:rPr>
              <a:t>Implementation &amp; Results</a:t>
            </a:r>
          </a:p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Key interactive dashboards, KPIs, and metrics</a:t>
            </a:r>
          </a:p>
        </p:txBody>
      </p:sp>
      <p:sp>
        <p:nvSpPr>
          <p:cNvPr id="30" name="Shape 27"/>
          <p:cNvSpPr/>
          <p:nvPr/>
        </p:nvSpPr>
        <p:spPr>
          <a:xfrm>
            <a:off x="4686300" y="2724912"/>
            <a:ext cx="502920" cy="621792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663440" y="2724912"/>
            <a:ext cx="502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5226050" y="2716911"/>
            <a:ext cx="3749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GB" altLang="en-US"/>
          </a:p>
        </p:txBody>
      </p:sp>
      <p:sp>
        <p:nvSpPr>
          <p:cNvPr id="33" name="Text 30"/>
          <p:cNvSpPr/>
          <p:nvPr/>
        </p:nvSpPr>
        <p:spPr>
          <a:xfrm>
            <a:off x="5303520" y="2570290"/>
            <a:ext cx="35661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br>
              <a:rPr lang="en-US" b="1" dirty="0"/>
            </a:br>
            <a:r>
              <a:rPr lang="en-US" sz="1300" b="1" dirty="0">
                <a:solidFill>
                  <a:schemeClr val="accent1">
                    <a:lumMod val="50000"/>
                  </a:schemeClr>
                </a:solidFill>
              </a:rPr>
              <a:t>Impact &amp; Future Work</a:t>
            </a:r>
          </a:p>
          <a:p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National alignment with Egypt 2030 and next milestones</a:t>
            </a:r>
          </a:p>
        </p:txBody>
      </p:sp>
      <p:sp>
        <p:nvSpPr>
          <p:cNvPr id="34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  <p:sp>
        <p:nvSpPr>
          <p:cNvPr id="37" name="Shape 29">
            <a:extLst>
              <a:ext uri="{FF2B5EF4-FFF2-40B4-BE49-F238E27FC236}">
                <a16:creationId xmlns:a16="http://schemas.microsoft.com/office/drawing/2014/main" id="{9B997889-D041-417F-98C9-BDA05339318E}"/>
              </a:ext>
            </a:extLst>
          </p:cNvPr>
          <p:cNvSpPr/>
          <p:nvPr/>
        </p:nvSpPr>
        <p:spPr>
          <a:xfrm>
            <a:off x="5226050" y="3667252"/>
            <a:ext cx="3749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</p:spPr>
        <p:txBody>
          <a:bodyPr/>
          <a:lstStyle/>
          <a:p>
            <a:r>
              <a:rPr lang="en-US" sz="1300" b="1" dirty="0">
                <a:solidFill>
                  <a:schemeClr val="accent1">
                    <a:lumMod val="50000"/>
                  </a:schemeClr>
                </a:solidFill>
              </a:rPr>
              <a:t>References &amp; Q&amp;A</a:t>
            </a:r>
          </a:p>
          <a:p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Documentation, GitHub repositories, and discussion</a:t>
            </a:r>
          </a:p>
        </p:txBody>
      </p:sp>
      <p:sp>
        <p:nvSpPr>
          <p:cNvPr id="38" name="Shape 23">
            <a:extLst>
              <a:ext uri="{FF2B5EF4-FFF2-40B4-BE49-F238E27FC236}">
                <a16:creationId xmlns:a16="http://schemas.microsoft.com/office/drawing/2014/main" id="{B85679F2-DA3B-4F12-AD42-B98FD2690593}"/>
              </a:ext>
            </a:extLst>
          </p:cNvPr>
          <p:cNvSpPr/>
          <p:nvPr/>
        </p:nvSpPr>
        <p:spPr>
          <a:xfrm>
            <a:off x="4686300" y="3639312"/>
            <a:ext cx="502920" cy="621792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B0F0"/>
                </a:solidFill>
              </a:rPr>
              <a:t>08</a:t>
            </a:r>
            <a:endParaRPr lang="en-US" b="1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Introduction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10972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905255"/>
            <a:ext cx="1373208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1" y="844550"/>
            <a:ext cx="1377094" cy="63245"/>
          </a:xfrm>
          <a:prstGeom prst="rect">
            <a:avLst/>
          </a:prstGeom>
          <a:solidFill>
            <a:srgbClr val="00AEE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799" y="1005840"/>
            <a:ext cx="840030" cy="822960"/>
          </a:xfrm>
          <a:prstGeom prst="ellipse">
            <a:avLst/>
          </a:prstGeom>
          <a:solidFill>
            <a:srgbClr val="1A2D5A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8660" y="1013968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335280" y="1845818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Nermeen</a:t>
            </a:r>
            <a:r>
              <a:rPr lang="en-US" sz="1100" b="1" dirty="0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Ahmed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18770" y="2203196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/>
              <a:t>Team Leader &amp; Data Analyst 	</a:t>
            </a:r>
          </a:p>
        </p:txBody>
      </p:sp>
      <p:sp>
        <p:nvSpPr>
          <p:cNvPr id="12" name="Shape 9"/>
          <p:cNvSpPr/>
          <p:nvPr/>
        </p:nvSpPr>
        <p:spPr>
          <a:xfrm>
            <a:off x="556895" y="2530094"/>
            <a:ext cx="1047750" cy="45719"/>
          </a:xfrm>
          <a:prstGeom prst="rect">
            <a:avLst/>
          </a:prstGeom>
          <a:solidFill>
            <a:srgbClr val="3A8FD4"/>
          </a:solidFill>
          <a:ln w="12700">
            <a:solidFill>
              <a:srgbClr val="3A8F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1" y="2632582"/>
            <a:ext cx="1250278" cy="61353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sz="800" dirty="0"/>
              <a:t>Leadership &amp; Analysis: Acted as the Team Leader and handled the data calculations. </a:t>
            </a:r>
          </a:p>
          <a:p>
            <a:r>
              <a:rPr lang="en-US" sz="800" dirty="0"/>
              <a:t>Shared Tasks: Collaborative data cleaning, creating a simple local web page for presentation, and final project review 	</a:t>
            </a:r>
          </a:p>
        </p:txBody>
      </p:sp>
      <p:sp>
        <p:nvSpPr>
          <p:cNvPr id="14" name="Shape 11"/>
          <p:cNvSpPr/>
          <p:nvPr/>
        </p:nvSpPr>
        <p:spPr>
          <a:xfrm>
            <a:off x="1809256" y="886968"/>
            <a:ext cx="147175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827212" y="844550"/>
            <a:ext cx="1427133" cy="48768"/>
          </a:xfrm>
          <a:prstGeom prst="rect">
            <a:avLst/>
          </a:prstGeom>
          <a:solidFill>
            <a:srgbClr val="C8A8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130626" y="969772"/>
            <a:ext cx="829010" cy="810768"/>
          </a:xfrm>
          <a:prstGeom prst="ellipse">
            <a:avLst/>
          </a:prstGeom>
          <a:solidFill>
            <a:srgbClr val="1A2D5A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187258" y="987552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827212" y="1828800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Mariam Samir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842672" y="2173987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/>
              <a:t>Data Analyst, Documentation&amp; </a:t>
            </a:r>
            <a:br>
              <a:rPr lang="en-US" sz="800" b="1" dirty="0"/>
            </a:br>
            <a:r>
              <a:rPr lang="en-US" sz="800" b="1" dirty="0"/>
              <a:t>Presentation leader 	</a:t>
            </a:r>
          </a:p>
        </p:txBody>
      </p:sp>
      <p:sp>
        <p:nvSpPr>
          <p:cNvPr id="20" name="Shape 17"/>
          <p:cNvSpPr/>
          <p:nvPr/>
        </p:nvSpPr>
        <p:spPr>
          <a:xfrm>
            <a:off x="1978027" y="2544319"/>
            <a:ext cx="1111884" cy="45719"/>
          </a:xfrm>
          <a:prstGeom prst="rect">
            <a:avLst/>
          </a:prstGeom>
          <a:solidFill>
            <a:srgbClr val="3A8FD4"/>
          </a:solidFill>
          <a:ln w="12700">
            <a:solidFill>
              <a:srgbClr val="3A8FD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872926" y="2627823"/>
            <a:ext cx="1417326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sz="800" dirty="0"/>
              <a:t>Data, Docs &amp; Pitch: Collected the raw data, co-authored the project documentation, and designed the final presentation. </a:t>
            </a:r>
          </a:p>
          <a:p>
            <a:r>
              <a:rPr lang="en-US" sz="800" dirty="0"/>
              <a:t>Shared Tasks: Collaborative data cleaning, creating a simple local web page for presentation, and </a:t>
            </a:r>
            <a:r>
              <a:rPr lang="en-US" sz="900" dirty="0"/>
              <a:t>final project review</a:t>
            </a:r>
            <a:r>
              <a:rPr lang="en-US" sz="1050" dirty="0"/>
              <a:t>. 	</a:t>
            </a:r>
          </a:p>
          <a:p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3332987" y="862596"/>
            <a:ext cx="1429829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3332988" y="840741"/>
            <a:ext cx="1320487" cy="45719"/>
          </a:xfrm>
          <a:prstGeom prst="rect">
            <a:avLst/>
          </a:prstGeom>
          <a:solidFill>
            <a:srgbClr val="00AEE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26309" y="1229614"/>
            <a:ext cx="1371093" cy="4119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3223577" y="1843025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Menna</a:t>
            </a:r>
            <a:r>
              <a:rPr lang="en-US" sz="1100" b="1" dirty="0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Mohamed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241865" y="2213356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/>
              <a:t>Data Analyst&amp;</a:t>
            </a:r>
            <a:br>
              <a:rPr lang="en-US" sz="800" b="1" dirty="0"/>
            </a:br>
            <a:r>
              <a:rPr lang="en-US" sz="800" b="1" dirty="0"/>
              <a:t>co Documentation Member 	</a:t>
            </a:r>
          </a:p>
        </p:txBody>
      </p:sp>
      <p:sp>
        <p:nvSpPr>
          <p:cNvPr id="28" name="Shape 25"/>
          <p:cNvSpPr/>
          <p:nvPr/>
        </p:nvSpPr>
        <p:spPr>
          <a:xfrm>
            <a:off x="3512247" y="2567178"/>
            <a:ext cx="1049657" cy="45719"/>
          </a:xfrm>
          <a:prstGeom prst="rect">
            <a:avLst/>
          </a:prstGeom>
          <a:solidFill>
            <a:srgbClr val="3A8FD4"/>
          </a:solidFill>
          <a:ln w="12700">
            <a:solidFill>
              <a:srgbClr val="3A8FD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427537" y="2698242"/>
            <a:ext cx="1311661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sz="800" dirty="0"/>
              <a:t>Analysis &amp; Docs:</a:t>
            </a:r>
            <a:br>
              <a:rPr lang="en-US" sz="800" dirty="0"/>
            </a:br>
            <a:r>
              <a:rPr lang="en-US" sz="800" dirty="0"/>
              <a:t> Co-developed the data calculations and contributed to the project documentation. </a:t>
            </a:r>
          </a:p>
          <a:p>
            <a:r>
              <a:rPr lang="en-US" sz="800" dirty="0"/>
              <a:t>Shared Tasks: Collaborative data cleaning, creating a simple local web page for presentation, and final project review. 	</a:t>
            </a:r>
          </a:p>
        </p:txBody>
      </p:sp>
      <p:sp>
        <p:nvSpPr>
          <p:cNvPr id="30" name="Shape 27"/>
          <p:cNvSpPr/>
          <p:nvPr/>
        </p:nvSpPr>
        <p:spPr>
          <a:xfrm>
            <a:off x="6257204" y="882394"/>
            <a:ext cx="13258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771358" y="848426"/>
            <a:ext cx="1383442" cy="67057"/>
          </a:xfrm>
          <a:prstGeom prst="rect">
            <a:avLst/>
          </a:prstGeom>
          <a:solidFill>
            <a:srgbClr val="C8A8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566810" y="1066799"/>
            <a:ext cx="818116" cy="776225"/>
          </a:xfrm>
          <a:prstGeom prst="ellipse">
            <a:avLst/>
          </a:prstGeom>
          <a:solidFill>
            <a:srgbClr val="1A2D5A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97345" y="1044195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6224446" y="1899667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Shahd</a:t>
            </a:r>
            <a:r>
              <a:rPr lang="en-US" sz="1100" b="1" dirty="0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Mohamed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265714" y="2308087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/>
              <a:t>BI Analyst &amp;</a:t>
            </a:r>
            <a:br>
              <a:rPr lang="en-US" sz="900" b="1" dirty="0"/>
            </a:br>
            <a:r>
              <a:rPr lang="en-US" sz="900" b="1" dirty="0"/>
              <a:t>Dashboard Designer 	</a:t>
            </a:r>
          </a:p>
          <a:p>
            <a:pPr algn="ctr"/>
            <a:r>
              <a:rPr lang="en-US" sz="900" b="1" dirty="0"/>
              <a:t>	</a:t>
            </a:r>
          </a:p>
        </p:txBody>
      </p:sp>
      <p:sp>
        <p:nvSpPr>
          <p:cNvPr id="36" name="Shape 33"/>
          <p:cNvSpPr/>
          <p:nvPr/>
        </p:nvSpPr>
        <p:spPr>
          <a:xfrm>
            <a:off x="6315715" y="2574036"/>
            <a:ext cx="1280160" cy="22860"/>
          </a:xfrm>
          <a:prstGeom prst="rect">
            <a:avLst/>
          </a:prstGeom>
          <a:solidFill>
            <a:srgbClr val="3A8FD4"/>
          </a:solidFill>
          <a:ln w="12700">
            <a:solidFill>
              <a:srgbClr val="3A8FD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18273" y="2632582"/>
            <a:ext cx="1297535" cy="6305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sz="800" dirty="0"/>
              <a:t>Design &amp; UI: Structured the data tables and built the Power BI Dashboard visuals. </a:t>
            </a:r>
          </a:p>
          <a:p>
            <a:r>
              <a:rPr lang="en-US" sz="800" dirty="0"/>
              <a:t>Shared Tasks: Collaborative data cleaning, creating a simple local web page for presentation, </a:t>
            </a:r>
            <a:br>
              <a:rPr lang="en-US" sz="800" dirty="0"/>
            </a:br>
            <a:r>
              <a:rPr lang="en-US" sz="800" dirty="0"/>
              <a:t>and final project review </a:t>
            </a:r>
            <a:r>
              <a:rPr lang="en-US" dirty="0"/>
              <a:t>	</a:t>
            </a:r>
          </a:p>
        </p:txBody>
      </p:sp>
      <p:sp>
        <p:nvSpPr>
          <p:cNvPr id="38" name="Shape 35"/>
          <p:cNvSpPr/>
          <p:nvPr/>
        </p:nvSpPr>
        <p:spPr>
          <a:xfrm>
            <a:off x="7689617" y="922021"/>
            <a:ext cx="1360703" cy="3488435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282357" y="844550"/>
            <a:ext cx="1327150" cy="49149"/>
          </a:xfrm>
          <a:prstGeom prst="rect">
            <a:avLst/>
          </a:prstGeom>
          <a:solidFill>
            <a:srgbClr val="00AEE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990438" y="1064323"/>
            <a:ext cx="787040" cy="738949"/>
          </a:xfrm>
          <a:prstGeom prst="ellipse">
            <a:avLst/>
          </a:prstGeom>
          <a:solidFill>
            <a:srgbClr val="1A2D5A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648349" y="1890523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Shrouk</a:t>
            </a:r>
            <a:r>
              <a:rPr lang="en-US" sz="1100" b="1" dirty="0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100" b="1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Mera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7805291" y="2193798"/>
            <a:ext cx="112293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/>
              <a:t>Data Analyst  &amp;</a:t>
            </a:r>
            <a:br>
              <a:rPr lang="en-US" sz="900" b="1" dirty="0"/>
            </a:br>
            <a:r>
              <a:rPr lang="en-US" sz="900" b="1" dirty="0"/>
              <a:t>Poster Lead Member</a:t>
            </a:r>
          </a:p>
        </p:txBody>
      </p:sp>
      <p:sp>
        <p:nvSpPr>
          <p:cNvPr id="44" name="Shape 41"/>
          <p:cNvSpPr/>
          <p:nvPr/>
        </p:nvSpPr>
        <p:spPr>
          <a:xfrm>
            <a:off x="7699752" y="2566669"/>
            <a:ext cx="1280160" cy="22860"/>
          </a:xfrm>
          <a:prstGeom prst="rect">
            <a:avLst/>
          </a:prstGeom>
          <a:solidFill>
            <a:srgbClr val="3A8FD4"/>
          </a:solidFill>
          <a:ln w="12700">
            <a:solidFill>
              <a:srgbClr val="3A8FD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739953" y="2664557"/>
            <a:ext cx="1310367" cy="496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sz="800" dirty="0"/>
              <a:t>Data Analyst Analysis &amp; Docs: Executed Power Query ETL data cleaning, compiled the project documentation, and designed the project poster. </a:t>
            </a:r>
          </a:p>
          <a:p>
            <a:r>
              <a:rPr lang="en-US" sz="800" dirty="0"/>
              <a:t>Shared Tasks: Collaborative data cleaning, creating a simple local  web page for presentation, and </a:t>
            </a:r>
          </a:p>
          <a:p>
            <a:r>
              <a:rPr lang="en-US" sz="800" dirty="0"/>
              <a:t>final project revi</a:t>
            </a:r>
            <a:r>
              <a:rPr lang="en-US" sz="1000" dirty="0"/>
              <a:t>ew 	</a:t>
            </a:r>
          </a:p>
        </p:txBody>
      </p:sp>
      <p:sp>
        <p:nvSpPr>
          <p:cNvPr id="46" name="Shape 43"/>
          <p:cNvSpPr/>
          <p:nvPr/>
        </p:nvSpPr>
        <p:spPr>
          <a:xfrm>
            <a:off x="164592" y="4361688"/>
            <a:ext cx="8979408" cy="438912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65760" y="4379976"/>
            <a:ext cx="84124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Supervisor / Track Head:  [Name &amp; Title]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0FCB4FB4-9E50-4B17-A003-89F0C392A0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0551" y="984219"/>
            <a:ext cx="836898" cy="836898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E4E64AE6-1242-48A8-9BA6-6CFCAAE42B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6770" y="895179"/>
            <a:ext cx="1463450" cy="3551263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FF55EEDB-78DF-4484-84F9-F2AD036CE2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002" y="1039728"/>
            <a:ext cx="843511" cy="845760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E2C5A85A-36D0-453B-A5D6-7A518623EC07}"/>
              </a:ext>
            </a:extLst>
          </p:cNvPr>
          <p:cNvSpPr/>
          <p:nvPr/>
        </p:nvSpPr>
        <p:spPr>
          <a:xfrm>
            <a:off x="4833944" y="1900049"/>
            <a:ext cx="12330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sz="1100" b="1" dirty="0" err="1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Amany</a:t>
            </a:r>
            <a:r>
              <a:rPr lang="en-US" sz="1100" b="1" dirty="0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Mohamed</a:t>
            </a:r>
            <a:endParaRPr lang="en-US" sz="1100" dirty="0">
              <a:solidFill>
                <a:prstClr val="black"/>
              </a:solidFill>
            </a:endParaRP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C9C4C89A-2DA6-4102-BA65-D7820B6D9B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9419" y="843812"/>
            <a:ext cx="1340901" cy="76455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476303CA-87C1-463D-B235-4B7DD402D070}"/>
              </a:ext>
            </a:extLst>
          </p:cNvPr>
          <p:cNvSpPr/>
          <p:nvPr/>
        </p:nvSpPr>
        <p:spPr>
          <a:xfrm>
            <a:off x="4820579" y="2126301"/>
            <a:ext cx="128587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b="1" dirty="0"/>
              <a:t>BI Analyst &amp; Dashboard Designer 	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8C69F1D8-B42F-4E25-BBFF-A3B1F5D649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9534" y="2550943"/>
            <a:ext cx="1060796" cy="45719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3452C339-92E0-492E-B256-DB0BEF64EB12}"/>
              </a:ext>
            </a:extLst>
          </p:cNvPr>
          <p:cNvSpPr/>
          <p:nvPr/>
        </p:nvSpPr>
        <p:spPr>
          <a:xfrm>
            <a:off x="4820579" y="2630829"/>
            <a:ext cx="139783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Design &amp; UI: Structured the data tables and built the Power BI Dashboard visuals. </a:t>
            </a:r>
          </a:p>
          <a:p>
            <a:r>
              <a:rPr lang="en-US" sz="800" dirty="0"/>
              <a:t>Shared Tasks: Collaborative data cleaning, creating a simple local web page for presentation, and final project review 	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841248"/>
            <a:ext cx="86410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56032" y="841248"/>
            <a:ext cx="64008" cy="384048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914400"/>
            <a:ext cx="832104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Current Operational Pain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Data Silos: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 Fragmented historical records across disparate spreadsheets, leading to inconsistent conclusions.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Slow Decision Velocity: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 Manual report generation takes days, preventing real-time leadership responsiveness.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Human Error &amp; Inconsistency: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 Discrepancies in KPI calculations and lack of standardized business logic.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Zero Predictive Visibility: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 Organizations react to outdated quarterly audits rather than forward-looking trends.</a:t>
            </a:r>
          </a:p>
        </p:txBody>
      </p:sp>
      <p:sp>
        <p:nvSpPr>
          <p:cNvPr id="9" name="Text 6"/>
          <p:cNvSpPr/>
          <p:nvPr/>
        </p:nvSpPr>
        <p:spPr>
          <a:xfrm>
            <a:off x="457200" y="44348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Be concise and data-driven. Include statistics or facts if available.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Objectives &amp; Project Scope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874522"/>
            <a:ext cx="4160520" cy="3807206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874522"/>
            <a:ext cx="45719" cy="380720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859536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Objectives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480" y="1207008"/>
            <a:ext cx="3840480" cy="22860"/>
          </a:xfrm>
          <a:prstGeom prst="rect">
            <a:avLst/>
          </a:prstGeom>
          <a:solidFill>
            <a:srgbClr val="3A8FD4"/>
          </a:solidFill>
          <a:ln w="12700">
            <a:solidFill>
              <a:srgbClr val="3A8F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1261872"/>
            <a:ext cx="38404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/>
              <a:t>Cleanse, structure, and model historical and modern data for </a:t>
            </a:r>
            <a:r>
              <a:rPr lang="en-US" sz="1100" b="1" dirty="0"/>
              <a:t>3,500+ global AI systems</a:t>
            </a:r>
            <a:r>
              <a:rPr lang="en-US" sz="1100" dirty="0"/>
              <a:t> spanning 1957 to 2026</a:t>
            </a:r>
            <a:br>
              <a:rPr lang="ar-EG" sz="1400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Specific: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 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Centralize raw data sources into a high-performance Star Schema model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Measurable: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 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Cut analytical report generation turnaround time by over 75%.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Achievable: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 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Leverage Power BI Desktop, DAX calculations, and Power Query ETL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Relevant: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 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Deliver instant executive insights into key organizational performance indicators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Time-Bound: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 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Fully validated, tested, and ready for deployment by June 2026</a:t>
            </a:r>
            <a:r>
              <a:rPr lang="en-US" sz="1400" dirty="0"/>
              <a:t>.</a:t>
            </a:r>
          </a:p>
        </p:txBody>
      </p:sp>
      <p:sp>
        <p:nvSpPr>
          <p:cNvPr id="11" name="Shape 8"/>
          <p:cNvSpPr/>
          <p:nvPr/>
        </p:nvSpPr>
        <p:spPr>
          <a:xfrm>
            <a:off x="4759452" y="868680"/>
            <a:ext cx="41605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18558" y="874522"/>
            <a:ext cx="64008" cy="384048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859536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What’s In Scope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892040" y="1207008"/>
            <a:ext cx="3840480" cy="228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92040" y="1261872"/>
            <a:ext cx="38404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i="1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List what the project covers and delivers</a:t>
            </a:r>
          </a:p>
          <a:p>
            <a:pPr marL="342900" indent="-342900">
              <a:spcAft>
                <a:spcPts val="600"/>
              </a:spcAft>
              <a:buSzPct val="100000"/>
              <a:buFontTx/>
              <a:buChar char="✓"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Automated Ingestion: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 Resilient Power Query pipelines with data type validation</a:t>
            </a:r>
            <a:r>
              <a:rPr lang="en-US" sz="1200" dirty="0"/>
              <a:t>.</a:t>
            </a:r>
            <a:r>
              <a:rPr lang="en-US" sz="1200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Semantic Data Model: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 Normalized Fact &amp; Dimension tables with 1-to-many relationships</a:t>
            </a:r>
            <a:endParaRPr lang="en-US" sz="1200" dirty="0">
              <a:solidFill>
                <a:srgbClr val="1E5CA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lvl="0" indent="-342900">
              <a:spcAft>
                <a:spcPts val="600"/>
              </a:spcAft>
              <a:buSzPct val="100000"/>
              <a:buFontTx/>
              <a:buChar char="✓"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DAX Analytics Suite: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 Over 25+ dynamic measures (YTD, MoM, Growth %, Variances).</a:t>
            </a:r>
            <a:r>
              <a:rPr lang="en-US" sz="1200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Interactive Dashboards: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 Executive summary, detailed operational breakdowns, and KPIs</a:t>
            </a:r>
            <a:endParaRPr lang="ar-EG" sz="1200" dirty="0">
              <a:solidFill>
                <a:srgbClr val="1E5CA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425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24355"/>
            <a:ext cx="8979408" cy="643454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Proposed Solution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34442" y="768096"/>
            <a:ext cx="64008" cy="386791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914400"/>
            <a:ext cx="832104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4348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  <p:pic>
        <p:nvPicPr>
          <p:cNvPr id="1026" name="Picture 2" descr="image.png">
            <a:extLst>
              <a:ext uri="{FF2B5EF4-FFF2-40B4-BE49-F238E27FC236}">
                <a16:creationId xmlns:a16="http://schemas.microsoft.com/office/drawing/2014/main" id="{A3E12DC6-F46F-4F3C-ABA7-B904B4D34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901699"/>
            <a:ext cx="2592324" cy="1521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.png">
            <a:extLst>
              <a:ext uri="{FF2B5EF4-FFF2-40B4-BE49-F238E27FC236}">
                <a16:creationId xmlns:a16="http://schemas.microsoft.com/office/drawing/2014/main" id="{21196053-0DA7-4FCE-B076-39DEC0105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958" y="1109922"/>
            <a:ext cx="328612" cy="2832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F38F201-A898-4ECF-B757-2A92F61BAAB1}"/>
              </a:ext>
            </a:extLst>
          </p:cNvPr>
          <p:cNvSpPr/>
          <p:nvPr/>
        </p:nvSpPr>
        <p:spPr>
          <a:xfrm>
            <a:off x="1047749" y="1152561"/>
            <a:ext cx="1603277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F172A"/>
                </a:solidFill>
                <a:latin typeface="Poppins"/>
              </a:rPr>
              <a:t>Unified Data Fabric</a:t>
            </a:r>
            <a:endParaRPr lang="en-US" sz="2000" b="1" dirty="0"/>
          </a:p>
          <a:p>
            <a:br>
              <a:rPr lang="en-US" dirty="0"/>
            </a:b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FF507D-3DED-4E61-BE63-179799AEE3A8}"/>
              </a:ext>
            </a:extLst>
          </p:cNvPr>
          <p:cNvSpPr/>
          <p:nvPr/>
        </p:nvSpPr>
        <p:spPr>
          <a:xfrm>
            <a:off x="533535" y="1498364"/>
            <a:ext cx="2287016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b="1" dirty="0">
                <a:solidFill>
                  <a:srgbClr val="64748B"/>
                </a:solidFill>
                <a:latin typeface="Inter"/>
              </a:rPr>
              <a:t>Consolidates disconnected relational datasets and flat files into a single, cohesive, authoritative tabular semantic layer.</a:t>
            </a:r>
            <a:endParaRPr lang="en-US" sz="1050" b="1" dirty="0"/>
          </a:p>
          <a:p>
            <a:br>
              <a:rPr lang="en-US" sz="1050" b="1" dirty="0"/>
            </a:br>
            <a:endParaRPr lang="en-US" sz="1050" b="1" dirty="0"/>
          </a:p>
        </p:txBody>
      </p:sp>
      <p:pic>
        <p:nvPicPr>
          <p:cNvPr id="1034" name="Picture 10" descr="image.png">
            <a:extLst>
              <a:ext uri="{FF2B5EF4-FFF2-40B4-BE49-F238E27FC236}">
                <a16:creationId xmlns:a16="http://schemas.microsoft.com/office/drawing/2014/main" id="{613BE024-13D1-458C-9029-8381AFEFC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6820" y="901699"/>
            <a:ext cx="2813274" cy="1534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age.png">
            <a:extLst>
              <a:ext uri="{FF2B5EF4-FFF2-40B4-BE49-F238E27FC236}">
                <a16:creationId xmlns:a16="http://schemas.microsoft.com/office/drawing/2014/main" id="{8A897AB6-BF42-4D9B-82F0-A22E8EA8B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0004" y="901699"/>
            <a:ext cx="2758305" cy="1534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image.png">
            <a:extLst>
              <a:ext uri="{FF2B5EF4-FFF2-40B4-BE49-F238E27FC236}">
                <a16:creationId xmlns:a16="http://schemas.microsoft.com/office/drawing/2014/main" id="{B6E9B75B-2CA7-40DF-A84B-16A4EF353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888" y="2720088"/>
            <a:ext cx="2629646" cy="1504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image.png">
            <a:extLst>
              <a:ext uri="{FF2B5EF4-FFF2-40B4-BE49-F238E27FC236}">
                <a16:creationId xmlns:a16="http://schemas.microsoft.com/office/drawing/2014/main" id="{F2E61879-1181-4EFE-B569-F0057A6A35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6820" y="2743199"/>
            <a:ext cx="2813274" cy="1515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image.png">
            <a:extLst>
              <a:ext uri="{FF2B5EF4-FFF2-40B4-BE49-F238E27FC236}">
                <a16:creationId xmlns:a16="http://schemas.microsoft.com/office/drawing/2014/main" id="{741487A6-C4E5-410F-A158-052735E70F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940" y="2782062"/>
            <a:ext cx="2718050" cy="1538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image.png">
            <a:extLst>
              <a:ext uri="{FF2B5EF4-FFF2-40B4-BE49-F238E27FC236}">
                <a16:creationId xmlns:a16="http://schemas.microsoft.com/office/drawing/2014/main" id="{823FBC59-2A9B-4E1C-9EDC-7443A7698F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7907" y="1132900"/>
            <a:ext cx="209820" cy="27276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F6A7959-3F11-4520-B25F-372E35D44A51}"/>
              </a:ext>
            </a:extLst>
          </p:cNvPr>
          <p:cNvSpPr/>
          <p:nvPr/>
        </p:nvSpPr>
        <p:spPr>
          <a:xfrm>
            <a:off x="3762907" y="1173643"/>
            <a:ext cx="1683368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F172A"/>
                </a:solidFill>
                <a:latin typeface="Poppins"/>
              </a:rPr>
              <a:t>Advanced DAX Logic</a:t>
            </a:r>
            <a:endParaRPr lang="en-US" sz="2000" b="1" dirty="0"/>
          </a:p>
          <a:p>
            <a:br>
              <a:rPr lang="en-US" dirty="0"/>
            </a:b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130765-ADC7-43B3-86C8-7C66F40CF327}"/>
              </a:ext>
            </a:extLst>
          </p:cNvPr>
          <p:cNvSpPr/>
          <p:nvPr/>
        </p:nvSpPr>
        <p:spPr>
          <a:xfrm>
            <a:off x="3278634" y="1521983"/>
            <a:ext cx="2629646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b="1" dirty="0">
                <a:solidFill>
                  <a:srgbClr val="64748B"/>
                </a:solidFill>
                <a:latin typeface="Inter"/>
              </a:rPr>
              <a:t>Dynamic calculations providing multi-dimensional insights: moving averages, cumulative year-to-date, and targeted variances.</a:t>
            </a:r>
            <a:endParaRPr lang="en-US" sz="1050" b="1" dirty="0"/>
          </a:p>
          <a:p>
            <a:br>
              <a:rPr lang="en-US" sz="1050" b="1" dirty="0"/>
            </a:br>
            <a:endParaRPr lang="en-US" sz="1050" b="1" dirty="0"/>
          </a:p>
        </p:txBody>
      </p:sp>
      <p:pic>
        <p:nvPicPr>
          <p:cNvPr id="1046" name="Picture 22" descr="image.png">
            <a:extLst>
              <a:ext uri="{FF2B5EF4-FFF2-40B4-BE49-F238E27FC236}">
                <a16:creationId xmlns:a16="http://schemas.microsoft.com/office/drawing/2014/main" id="{65B81C58-5E0A-4A4E-BD5D-A6B8D414A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533" y="1173643"/>
            <a:ext cx="280238" cy="2802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0F4E88A-F8CA-4016-94D2-F7D2CA521A4C}"/>
              </a:ext>
            </a:extLst>
          </p:cNvPr>
          <p:cNvSpPr/>
          <p:nvPr/>
        </p:nvSpPr>
        <p:spPr>
          <a:xfrm>
            <a:off x="6824077" y="1185487"/>
            <a:ext cx="18958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F172A"/>
                </a:solidFill>
                <a:latin typeface="Poppins"/>
              </a:rPr>
              <a:t>Actionable Executive UX</a:t>
            </a:r>
            <a:endParaRPr lang="en-US" dirty="0"/>
          </a:p>
          <a:p>
            <a:br>
              <a:rPr lang="en-US" dirty="0"/>
            </a:b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88DA89-F5BC-41DC-8872-DAB26E57479F}"/>
              </a:ext>
            </a:extLst>
          </p:cNvPr>
          <p:cNvSpPr/>
          <p:nvPr/>
        </p:nvSpPr>
        <p:spPr>
          <a:xfrm>
            <a:off x="6319123" y="1567282"/>
            <a:ext cx="2684034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rgbClr val="64748B"/>
                </a:solidFill>
                <a:latin typeface="Inter"/>
              </a:rPr>
              <a:t>Interactive dashboard navigation using bookmarks, drill-down capabilities, and synchronized slicers for decision clarity.</a:t>
            </a:r>
            <a:endParaRPr lang="en-US" sz="1000" b="1" dirty="0"/>
          </a:p>
          <a:p>
            <a:br>
              <a:rPr lang="en-US" sz="1000" b="1" dirty="0"/>
            </a:br>
            <a:endParaRPr lang="en-US" sz="1000" b="1" dirty="0"/>
          </a:p>
        </p:txBody>
      </p:sp>
      <p:pic>
        <p:nvPicPr>
          <p:cNvPr id="1048" name="Picture 24" descr="image.png">
            <a:extLst>
              <a:ext uri="{FF2B5EF4-FFF2-40B4-BE49-F238E27FC236}">
                <a16:creationId xmlns:a16="http://schemas.microsoft.com/office/drawing/2014/main" id="{041FE289-2882-414D-B01B-EC070FD04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958" y="2978401"/>
            <a:ext cx="219075" cy="2476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0AE24B0-F7C3-45DA-BE0E-6C13CF32A4BF}"/>
              </a:ext>
            </a:extLst>
          </p:cNvPr>
          <p:cNvSpPr/>
          <p:nvPr/>
        </p:nvSpPr>
        <p:spPr>
          <a:xfrm>
            <a:off x="1012654" y="2877632"/>
            <a:ext cx="194543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Poppins"/>
              </a:rPr>
              <a:t>Data Quality &amp; Integrity</a:t>
            </a:r>
            <a:br>
              <a:rPr lang="en-US" b="1" dirty="0">
                <a:latin typeface="Poppins"/>
              </a:rPr>
            </a:br>
            <a:endParaRPr lang="en-US" b="1" dirty="0">
              <a:latin typeface="Poppins"/>
            </a:endParaRPr>
          </a:p>
        </p:txBody>
      </p:sp>
      <p:pic>
        <p:nvPicPr>
          <p:cNvPr id="1050" name="Picture 26" descr="image.png">
            <a:extLst>
              <a:ext uri="{FF2B5EF4-FFF2-40B4-BE49-F238E27FC236}">
                <a16:creationId xmlns:a16="http://schemas.microsoft.com/office/drawing/2014/main" id="{15A83AE8-DAAE-40D2-8E43-2811FE8AE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070" y="2982921"/>
            <a:ext cx="219075" cy="2476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10551F2-221C-4528-8F05-0AB86F2959F7}"/>
              </a:ext>
            </a:extLst>
          </p:cNvPr>
          <p:cNvSpPr/>
          <p:nvPr/>
        </p:nvSpPr>
        <p:spPr>
          <a:xfrm>
            <a:off x="3890948" y="2964122"/>
            <a:ext cx="2136394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F172A"/>
                </a:solidFill>
                <a:latin typeface="Poppins"/>
              </a:rPr>
              <a:t>Sub-Second Refresh</a:t>
            </a:r>
            <a:endParaRPr lang="en-US" sz="2000" b="1" dirty="0"/>
          </a:p>
          <a:p>
            <a:br>
              <a:rPr lang="en-US" dirty="0"/>
            </a:b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3010896-A332-44DB-AEA8-D7C6DD089375}"/>
              </a:ext>
            </a:extLst>
          </p:cNvPr>
          <p:cNvSpPr/>
          <p:nvPr/>
        </p:nvSpPr>
        <p:spPr>
          <a:xfrm>
            <a:off x="3397147" y="3342354"/>
            <a:ext cx="2286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64748B"/>
                </a:solidFill>
                <a:latin typeface="Inter"/>
              </a:rPr>
              <a:t>Optimized VertiPaq column-store compression delivering sub-second response times on millions of transactional rows.</a:t>
            </a:r>
            <a:endParaRPr lang="en-US" sz="2800" b="1" dirty="0"/>
          </a:p>
          <a:p>
            <a:br>
              <a:rPr lang="en-US" sz="2800" dirty="0"/>
            </a:br>
            <a:endParaRPr lang="en-US" sz="2800" dirty="0"/>
          </a:p>
        </p:txBody>
      </p:sp>
      <p:pic>
        <p:nvPicPr>
          <p:cNvPr id="1052" name="Picture 28" descr="image.png">
            <a:extLst>
              <a:ext uri="{FF2B5EF4-FFF2-40B4-BE49-F238E27FC236}">
                <a16:creationId xmlns:a16="http://schemas.microsoft.com/office/drawing/2014/main" id="{A1F2A06E-8419-44AE-BF7D-986E7CFFF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9076" y="2948154"/>
            <a:ext cx="276225" cy="2476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15DFD1ED-8A33-4C08-A23D-742433446C9D}"/>
              </a:ext>
            </a:extLst>
          </p:cNvPr>
          <p:cNvSpPr/>
          <p:nvPr/>
        </p:nvSpPr>
        <p:spPr>
          <a:xfrm>
            <a:off x="2286000" y="2110085"/>
            <a:ext cx="23835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F680069-E1E0-4002-AABD-62F95D31A565}"/>
              </a:ext>
            </a:extLst>
          </p:cNvPr>
          <p:cNvSpPr/>
          <p:nvPr/>
        </p:nvSpPr>
        <p:spPr>
          <a:xfrm>
            <a:off x="6954027" y="2948315"/>
            <a:ext cx="191106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F172A"/>
                </a:solidFill>
                <a:latin typeface="Poppins"/>
              </a:rPr>
              <a:t>Exportable Intelligence</a:t>
            </a:r>
            <a:endParaRPr lang="en-US" dirty="0"/>
          </a:p>
          <a:p>
            <a:br>
              <a:rPr lang="en-US" dirty="0"/>
            </a:b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9B3A34F-BFC6-49D4-89D4-6A18168081FE}"/>
              </a:ext>
            </a:extLst>
          </p:cNvPr>
          <p:cNvSpPr/>
          <p:nvPr/>
        </p:nvSpPr>
        <p:spPr>
          <a:xfrm>
            <a:off x="6372853" y="3352082"/>
            <a:ext cx="2584018" cy="1131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b="1" dirty="0">
                <a:solidFill>
                  <a:srgbClr val="64748B"/>
                </a:solidFill>
                <a:latin typeface="Inter"/>
              </a:rPr>
              <a:t>Automated distribution ready for scheduled executive briefings, PDF exports, and mobile-responsive inspection.</a:t>
            </a:r>
            <a:endParaRPr lang="en-US" sz="2400" b="1" dirty="0"/>
          </a:p>
          <a:p>
            <a:br>
              <a:rPr lang="en-US" dirty="0"/>
            </a:b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2230B2D-8155-4A06-9AB5-47802D4DB79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69736" y="3397210"/>
            <a:ext cx="261058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Comprehensive data cleansing protocols ensuring accurate handling of nulls, anomalies, and standardized organizational mapping.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3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2460" y="10787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58243" y="762804"/>
            <a:ext cx="8979408" cy="4094226"/>
          </a:xfrm>
          <a:prstGeom prst="rect">
            <a:avLst/>
          </a:prstGeom>
          <a:solidFill>
            <a:srgbClr val="FFFFFF"/>
          </a:solidFill>
          <a:ln w="19050">
            <a:solidFill>
              <a:srgbClr val="00AEEF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274320" y="868680"/>
            <a:ext cx="8211687" cy="3383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20040" y="4315968"/>
            <a:ext cx="8412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  <p:pic>
        <p:nvPicPr>
          <p:cNvPr id="2050" name="Picture 2" descr="image.png">
            <a:extLst>
              <a:ext uri="{FF2B5EF4-FFF2-40B4-BE49-F238E27FC236}">
                <a16:creationId xmlns:a16="http://schemas.microsoft.com/office/drawing/2014/main" id="{0C6D48A8-9447-483A-8525-326DF134A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" y="2142610"/>
            <a:ext cx="4376420" cy="2141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.png">
            <a:extLst>
              <a:ext uri="{FF2B5EF4-FFF2-40B4-BE49-F238E27FC236}">
                <a16:creationId xmlns:a16="http://schemas.microsoft.com/office/drawing/2014/main" id="{8E24070B-4B7C-4BBC-8D49-D63D764F0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14" y="988386"/>
            <a:ext cx="1743457" cy="847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image.png">
            <a:extLst>
              <a:ext uri="{FF2B5EF4-FFF2-40B4-BE49-F238E27FC236}">
                <a16:creationId xmlns:a16="http://schemas.microsoft.com/office/drawing/2014/main" id="{D4F0C36E-6554-4EFB-A74A-9CA344BED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0450" y="969371"/>
            <a:ext cx="1699941" cy="885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image.png">
            <a:extLst>
              <a:ext uri="{FF2B5EF4-FFF2-40B4-BE49-F238E27FC236}">
                <a16:creationId xmlns:a16="http://schemas.microsoft.com/office/drawing/2014/main" id="{6931E341-513E-4426-99FA-017F8D907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2299" y="954305"/>
            <a:ext cx="1699941" cy="921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image.png">
            <a:extLst>
              <a:ext uri="{FF2B5EF4-FFF2-40B4-BE49-F238E27FC236}">
                <a16:creationId xmlns:a16="http://schemas.microsoft.com/office/drawing/2014/main" id="{CE4ADFB1-6073-4D51-9BEE-E09CCAA4B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7404" y="954204"/>
            <a:ext cx="1712214" cy="922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image.png">
            <a:extLst>
              <a:ext uri="{FF2B5EF4-FFF2-40B4-BE49-F238E27FC236}">
                <a16:creationId xmlns:a16="http://schemas.microsoft.com/office/drawing/2014/main" id="{D20117D7-DEF7-45A1-A220-23FBF49E5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6852" y="954205"/>
            <a:ext cx="1657350" cy="900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image.png">
            <a:extLst>
              <a:ext uri="{FF2B5EF4-FFF2-40B4-BE49-F238E27FC236}">
                <a16:creationId xmlns:a16="http://schemas.microsoft.com/office/drawing/2014/main" id="{F77FA578-8D05-4239-B55A-1B48E8AFF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650" y="2133726"/>
            <a:ext cx="4060190" cy="2159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mage.png">
            <a:extLst>
              <a:ext uri="{FF2B5EF4-FFF2-40B4-BE49-F238E27FC236}">
                <a16:creationId xmlns:a16="http://schemas.microsoft.com/office/drawing/2014/main" id="{5D55906D-65F5-49BB-BEA7-A33CC738F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336" y="1011625"/>
            <a:ext cx="228600" cy="228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pic>
        <p:nvPicPr>
          <p:cNvPr id="2056" name="Picture 8" descr="image.png">
            <a:extLst>
              <a:ext uri="{FF2B5EF4-FFF2-40B4-BE49-F238E27FC236}">
                <a16:creationId xmlns:a16="http://schemas.microsoft.com/office/drawing/2014/main" id="{754AAE41-4488-4596-A1D6-8BAC693E1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8196" y="978314"/>
            <a:ext cx="228600" cy="228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pic>
        <p:nvPicPr>
          <p:cNvPr id="2058" name="Picture 10" descr="image.png">
            <a:extLst>
              <a:ext uri="{FF2B5EF4-FFF2-40B4-BE49-F238E27FC236}">
                <a16:creationId xmlns:a16="http://schemas.microsoft.com/office/drawing/2014/main" id="{CA37D76D-2346-417A-B5CC-123BBC1786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7969" y="993840"/>
            <a:ext cx="228600" cy="228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pic>
        <p:nvPicPr>
          <p:cNvPr id="2060" name="Picture 12" descr="image.png">
            <a:extLst>
              <a:ext uri="{FF2B5EF4-FFF2-40B4-BE49-F238E27FC236}">
                <a16:creationId xmlns:a16="http://schemas.microsoft.com/office/drawing/2014/main" id="{D15C3764-BA5B-401A-89D4-59BA426B5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6440" y="1005456"/>
            <a:ext cx="228600" cy="228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710938F-ADBB-4CC2-A766-4AF946B49D54}"/>
              </a:ext>
            </a:extLst>
          </p:cNvPr>
          <p:cNvSpPr/>
          <p:nvPr/>
        </p:nvSpPr>
        <p:spPr>
          <a:xfrm>
            <a:off x="226025" y="1213340"/>
            <a:ext cx="16383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F172A"/>
                </a:solidFill>
                <a:latin typeface="Poppins"/>
              </a:rPr>
              <a:t>Data Ingestion</a:t>
            </a:r>
            <a:endParaRPr lang="en-US" sz="1400" dirty="0"/>
          </a:p>
          <a:p>
            <a:br>
              <a:rPr lang="en-US" sz="1400" dirty="0"/>
            </a:br>
            <a:endParaRPr lang="en-US" sz="1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FC3718-78D6-4CCC-BFC4-FF789C205FE4}"/>
              </a:ext>
            </a:extLst>
          </p:cNvPr>
          <p:cNvSpPr/>
          <p:nvPr/>
        </p:nvSpPr>
        <p:spPr>
          <a:xfrm>
            <a:off x="1943446" y="1207950"/>
            <a:ext cx="189250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F172A"/>
                </a:solidFill>
                <a:latin typeface="Poppins"/>
              </a:rPr>
              <a:t>ETL &amp; Power Query</a:t>
            </a:r>
            <a:endParaRPr lang="en-US" sz="1400" dirty="0"/>
          </a:p>
          <a:p>
            <a:br>
              <a:rPr lang="en-US" sz="1400" dirty="0"/>
            </a:br>
            <a:endParaRPr lang="en-US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E8F13E-B8D8-4606-B2E3-F6E51E90F698}"/>
              </a:ext>
            </a:extLst>
          </p:cNvPr>
          <p:cNvSpPr/>
          <p:nvPr/>
        </p:nvSpPr>
        <p:spPr>
          <a:xfrm>
            <a:off x="4011141" y="1213754"/>
            <a:ext cx="1449844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F172A"/>
                </a:solidFill>
                <a:latin typeface="Poppins"/>
              </a:rPr>
              <a:t>Star Schema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EB94E15-1E3A-4542-A690-CE84358691DD}"/>
              </a:ext>
            </a:extLst>
          </p:cNvPr>
          <p:cNvSpPr/>
          <p:nvPr/>
        </p:nvSpPr>
        <p:spPr>
          <a:xfrm>
            <a:off x="5520536" y="1207950"/>
            <a:ext cx="206695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F172A"/>
                </a:solidFill>
                <a:latin typeface="Poppins"/>
              </a:rPr>
              <a:t>DAX Engine</a:t>
            </a:r>
            <a:endParaRPr lang="en-US" sz="1400" dirty="0"/>
          </a:p>
          <a:p>
            <a:br>
              <a:rPr lang="en-US" sz="1400" dirty="0"/>
            </a:br>
            <a:endParaRPr lang="en-US" sz="1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5A6183-D149-469B-A949-9A07CA63BDF2}"/>
              </a:ext>
            </a:extLst>
          </p:cNvPr>
          <p:cNvSpPr/>
          <p:nvPr/>
        </p:nvSpPr>
        <p:spPr>
          <a:xfrm>
            <a:off x="7528561" y="1200463"/>
            <a:ext cx="160909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F172A"/>
                </a:solidFill>
                <a:latin typeface="Poppins"/>
              </a:rPr>
              <a:t>Visual Interface</a:t>
            </a:r>
            <a:endParaRPr lang="en-US" sz="1400" dirty="0"/>
          </a:p>
          <a:p>
            <a:br>
              <a:rPr lang="en-US" sz="1400" dirty="0"/>
            </a:br>
            <a:endParaRPr lang="en-US" sz="1400" dirty="0"/>
          </a:p>
        </p:txBody>
      </p:sp>
      <p:pic>
        <p:nvPicPr>
          <p:cNvPr id="2064" name="Picture 16" descr="image.png">
            <a:extLst>
              <a:ext uri="{FF2B5EF4-FFF2-40B4-BE49-F238E27FC236}">
                <a16:creationId xmlns:a16="http://schemas.microsoft.com/office/drawing/2014/main" id="{5DDC0F2A-0B7C-431C-A4FE-8F9DF4953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6707" y="981941"/>
            <a:ext cx="228600" cy="228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53C9A95B-CB1F-49C4-BEEC-E17553DE5D21}"/>
              </a:ext>
            </a:extLst>
          </p:cNvPr>
          <p:cNvSpPr/>
          <p:nvPr/>
        </p:nvSpPr>
        <p:spPr>
          <a:xfrm>
            <a:off x="710311" y="2274317"/>
            <a:ext cx="29443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284C7"/>
                </a:solidFill>
                <a:latin typeface="Poppins"/>
              </a:rPr>
              <a:t>Data Modeling Topology</a:t>
            </a:r>
            <a:endParaRPr lang="en-US" dirty="0"/>
          </a:p>
          <a:p>
            <a:br>
              <a:rPr lang="en-US" dirty="0"/>
            </a:b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CCE384-ACB2-4600-9347-78309CC2C4D9}"/>
              </a:ext>
            </a:extLst>
          </p:cNvPr>
          <p:cNvSpPr/>
          <p:nvPr/>
        </p:nvSpPr>
        <p:spPr>
          <a:xfrm>
            <a:off x="5470907" y="2243971"/>
            <a:ext cx="39197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284C7"/>
                </a:solidFill>
                <a:latin typeface="Poppins"/>
              </a:rPr>
              <a:t>Performance Optimization</a:t>
            </a:r>
            <a:endParaRPr lang="en-US" dirty="0"/>
          </a:p>
          <a:p>
            <a:br>
              <a:rPr lang="en-US" dirty="0"/>
            </a:br>
            <a:endParaRPr lang="en-US" dirty="0"/>
          </a:p>
        </p:txBody>
      </p:sp>
      <p:pic>
        <p:nvPicPr>
          <p:cNvPr id="2066" name="Picture 18" descr="image.png">
            <a:extLst>
              <a:ext uri="{FF2B5EF4-FFF2-40B4-BE49-F238E27FC236}">
                <a16:creationId xmlns:a16="http://schemas.microsoft.com/office/drawing/2014/main" id="{92B1A890-2D61-451B-B508-23BEC8962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349" y="2388870"/>
            <a:ext cx="190500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image.png">
            <a:extLst>
              <a:ext uri="{FF2B5EF4-FFF2-40B4-BE49-F238E27FC236}">
                <a16:creationId xmlns:a16="http://schemas.microsoft.com/office/drawing/2014/main" id="{61620F3F-6F7C-4FFE-B9C4-64D58E2DCC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4593" y="2383107"/>
            <a:ext cx="171450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D9BA8F5E-D765-4A5E-843D-506ECCAA7F5D}"/>
              </a:ext>
            </a:extLst>
          </p:cNvPr>
          <p:cNvSpPr/>
          <p:nvPr/>
        </p:nvSpPr>
        <p:spPr>
          <a:xfrm>
            <a:off x="405131" y="2702058"/>
            <a:ext cx="6699504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475569"/>
                </a:solidFill>
                <a:latin typeface="Inter"/>
              </a:rPr>
              <a:t>Architecture Pattern:</a:t>
            </a:r>
            <a:r>
              <a:rPr lang="en-US" sz="1100" dirty="0">
                <a:solidFill>
                  <a:srgbClr val="475569"/>
                </a:solidFill>
                <a:latin typeface="Inter"/>
              </a:rPr>
              <a:t> Constellation / Star Schema optimized for VertiPaq.</a:t>
            </a:r>
            <a:endParaRPr lang="en-US" sz="1100" dirty="0"/>
          </a:p>
          <a:p>
            <a:br>
              <a:rPr lang="en-US" sz="1100" dirty="0"/>
            </a:br>
            <a:endParaRPr lang="en-US" sz="11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054EF1-B147-4948-9CAB-31BEA329EE94}"/>
              </a:ext>
            </a:extLst>
          </p:cNvPr>
          <p:cNvSpPr/>
          <p:nvPr/>
        </p:nvSpPr>
        <p:spPr>
          <a:xfrm>
            <a:off x="411480" y="3021421"/>
            <a:ext cx="8116932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475569"/>
                </a:solidFill>
                <a:latin typeface="Inter"/>
              </a:rPr>
              <a:t>Fact Tables:</a:t>
            </a:r>
            <a:r>
              <a:rPr lang="en-US" sz="1100" dirty="0">
                <a:solidFill>
                  <a:srgbClr val="475569"/>
                </a:solidFill>
                <a:latin typeface="Inter"/>
              </a:rPr>
              <a:t> Granular transactional metrics with numerical measurements.</a:t>
            </a:r>
            <a:endParaRPr lang="en-US" sz="1100" dirty="0"/>
          </a:p>
          <a:p>
            <a:br>
              <a:rPr lang="en-US" sz="1100" dirty="0"/>
            </a:br>
            <a:endParaRPr lang="en-US" sz="11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9DD717-633D-446C-B3B2-4851B47A8583}"/>
              </a:ext>
            </a:extLst>
          </p:cNvPr>
          <p:cNvSpPr/>
          <p:nvPr/>
        </p:nvSpPr>
        <p:spPr>
          <a:xfrm>
            <a:off x="411480" y="3404688"/>
            <a:ext cx="4572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b="1" dirty="0">
                <a:solidFill>
                  <a:srgbClr val="475569"/>
                </a:solidFill>
                <a:latin typeface="Inter"/>
              </a:rPr>
              <a:t>Dimension Tables: </a:t>
            </a:r>
            <a:r>
              <a:rPr lang="en-US" sz="1100" dirty="0"/>
              <a:t>Standardized Date table, Organization, Domain, and Country dimensions</a:t>
            </a:r>
            <a:r>
              <a:rPr lang="en-US" sz="1100" dirty="0">
                <a:solidFill>
                  <a:srgbClr val="475569"/>
                </a:solidFill>
                <a:latin typeface="Inter"/>
              </a:rPr>
              <a:t>.</a:t>
            </a:r>
            <a:endParaRPr lang="en-US" sz="1100" dirty="0"/>
          </a:p>
          <a:p>
            <a:br>
              <a:rPr lang="en-US" sz="1100" dirty="0"/>
            </a:br>
            <a:endParaRPr lang="en-US" sz="11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2102B3B-1FD9-41F4-BBFD-ACC7D89E660E}"/>
              </a:ext>
            </a:extLst>
          </p:cNvPr>
          <p:cNvSpPr/>
          <p:nvPr/>
        </p:nvSpPr>
        <p:spPr>
          <a:xfrm>
            <a:off x="5067971" y="2689335"/>
            <a:ext cx="3917786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475569"/>
                </a:solidFill>
                <a:latin typeface="Inter"/>
              </a:rPr>
              <a:t>Storage Mode:</a:t>
            </a:r>
            <a:r>
              <a:rPr lang="en-US" sz="1100" dirty="0">
                <a:solidFill>
                  <a:srgbClr val="475569"/>
                </a:solidFill>
                <a:latin typeface="Inter"/>
              </a:rPr>
              <a:t> In-Memory Import for instantaneous interactivity.</a:t>
            </a:r>
            <a:endParaRPr lang="en-US" sz="1100" dirty="0"/>
          </a:p>
          <a:p>
            <a:br>
              <a:rPr lang="en-US" sz="1100" dirty="0"/>
            </a:br>
            <a:endParaRPr lang="en-US" sz="11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F9EF67-9B30-45B7-B580-1C16135562F1}"/>
              </a:ext>
            </a:extLst>
          </p:cNvPr>
          <p:cNvSpPr/>
          <p:nvPr/>
        </p:nvSpPr>
        <p:spPr>
          <a:xfrm>
            <a:off x="5070349" y="3039556"/>
            <a:ext cx="400507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475569"/>
                </a:solidFill>
                <a:latin typeface="Inter"/>
              </a:rPr>
              <a:t>Cardinality Control:</a:t>
            </a:r>
            <a:r>
              <a:rPr lang="en-US" sz="1100" dirty="0">
                <a:solidFill>
                  <a:srgbClr val="475569"/>
                </a:solidFill>
                <a:latin typeface="Inter"/>
              </a:rPr>
              <a:t> Removed high-cardinality keys and timestamps to save memory.</a:t>
            </a:r>
            <a:endParaRPr lang="en-US" sz="1100" dirty="0"/>
          </a:p>
          <a:p>
            <a:br>
              <a:rPr lang="en-US" sz="1100" dirty="0"/>
            </a:br>
            <a:endParaRPr lang="en-US" sz="11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29782C1-915F-4501-8E93-DDC82C340BBB}"/>
              </a:ext>
            </a:extLst>
          </p:cNvPr>
          <p:cNvSpPr/>
          <p:nvPr/>
        </p:nvSpPr>
        <p:spPr>
          <a:xfrm>
            <a:off x="5034788" y="3504792"/>
            <a:ext cx="4572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b="1" dirty="0">
                <a:solidFill>
                  <a:srgbClr val="475569"/>
                </a:solidFill>
                <a:latin typeface="Inter"/>
              </a:rPr>
              <a:t>Filtering Rules:</a:t>
            </a:r>
            <a:r>
              <a:rPr lang="en-US" sz="1100" dirty="0">
                <a:solidFill>
                  <a:srgbClr val="475569"/>
                </a:solidFill>
                <a:latin typeface="Inter"/>
              </a:rPr>
              <a:t> Single-direction cross-filtering to prevent circular dependency overhead.</a:t>
            </a:r>
            <a:endParaRPr lang="en-US" sz="1100" dirty="0"/>
          </a:p>
          <a:p>
            <a:br>
              <a:rPr lang="en-US" sz="1100" dirty="0"/>
            </a:br>
            <a:endParaRPr lang="en-US" sz="11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BD0220D-DF9E-4822-8FFD-375A1A94EC72}"/>
              </a:ext>
            </a:extLst>
          </p:cNvPr>
          <p:cNvSpPr/>
          <p:nvPr/>
        </p:nvSpPr>
        <p:spPr>
          <a:xfrm>
            <a:off x="14901" y="1404130"/>
            <a:ext cx="213981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solidFill>
                  <a:srgbClr val="64748B"/>
                </a:solidFill>
                <a:latin typeface="Inter"/>
              </a:rPr>
              <a:t>Relational Databases, CSVs &amp; Historical Archives</a:t>
            </a:r>
            <a:endParaRPr lang="en-US" sz="1100" dirty="0"/>
          </a:p>
          <a:p>
            <a:br>
              <a:rPr lang="en-US" sz="1100" dirty="0"/>
            </a:br>
            <a:endParaRPr lang="en-US" sz="11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40E7501-E63F-43C2-BE10-D214E4D5D272}"/>
              </a:ext>
            </a:extLst>
          </p:cNvPr>
          <p:cNvSpPr/>
          <p:nvPr/>
        </p:nvSpPr>
        <p:spPr>
          <a:xfrm>
            <a:off x="2092745" y="1410520"/>
            <a:ext cx="1666622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M-Language, Type Casting &amp; Data Cleansing</a:t>
            </a:r>
            <a:br>
              <a:rPr lang="en-US" sz="1100" dirty="0"/>
            </a:br>
            <a:endParaRPr lang="en-US" sz="11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E2AF127-CC0C-4CC4-B484-8AF9D2C1153D}"/>
              </a:ext>
            </a:extLst>
          </p:cNvPr>
          <p:cNvSpPr/>
          <p:nvPr/>
        </p:nvSpPr>
        <p:spPr>
          <a:xfrm>
            <a:off x="3798634" y="1399659"/>
            <a:ext cx="185208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solidFill>
                  <a:srgbClr val="64748B"/>
                </a:solidFill>
                <a:latin typeface="Inter"/>
              </a:rPr>
              <a:t>Fact Tables &amp; Dimensions with Single Direction Filters</a:t>
            </a:r>
            <a:endParaRPr lang="en-US" sz="1100" dirty="0"/>
          </a:p>
          <a:p>
            <a:br>
              <a:rPr lang="en-US" sz="1100" dirty="0"/>
            </a:br>
            <a:endParaRPr lang="en-US" sz="11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DDE8F24-7AB0-4C3E-80D1-11FAE0410B66}"/>
              </a:ext>
            </a:extLst>
          </p:cNvPr>
          <p:cNvSpPr/>
          <p:nvPr/>
        </p:nvSpPr>
        <p:spPr>
          <a:xfrm>
            <a:off x="5752113" y="1403661"/>
            <a:ext cx="158383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solidFill>
                  <a:srgbClr val="64748B"/>
                </a:solidFill>
                <a:latin typeface="Inter"/>
              </a:rPr>
              <a:t>Calculated Measures, KPIs &amp; Time Intelligence</a:t>
            </a:r>
            <a:endParaRPr lang="en-US" sz="1100" dirty="0"/>
          </a:p>
          <a:p>
            <a:br>
              <a:rPr lang="en-US" sz="1100" dirty="0"/>
            </a:br>
            <a:endParaRPr lang="en-US" sz="11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8FF19BE-8E51-4FB9-A2C6-D4AC4EB6FDC5}"/>
              </a:ext>
            </a:extLst>
          </p:cNvPr>
          <p:cNvSpPr/>
          <p:nvPr/>
        </p:nvSpPr>
        <p:spPr>
          <a:xfrm>
            <a:off x="7522133" y="1432316"/>
            <a:ext cx="1518998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Power BI Dashboards &amp; Interactive Report</a:t>
            </a:r>
            <a:br>
              <a:rPr lang="en-US" sz="1100" dirty="0"/>
            </a:b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 Stack</a:t>
            </a:r>
            <a:endParaRPr lang="en-US" sz="3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23444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868680"/>
            <a:ext cx="2743200" cy="1807464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868680"/>
            <a:ext cx="2743200" cy="384048"/>
          </a:xfrm>
          <a:prstGeom prst="rect">
            <a:avLst/>
          </a:prstGeom>
          <a:solidFill>
            <a:srgbClr val="1E5CA8"/>
          </a:solidFill>
          <a:ln w="12700">
            <a:solidFill>
              <a:srgbClr val="1E5CA8"/>
            </a:solidFill>
            <a:prstDash val="solid"/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Visualization Layer</a:t>
            </a:r>
            <a:endParaRPr lang="en-US" dirty="0">
              <a:solidFill>
                <a:schemeClr val="bg1"/>
              </a:solidFill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47472" y="868680"/>
            <a:ext cx="259689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47472" y="1837944"/>
            <a:ext cx="259689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400" b="1" dirty="0"/>
              <a:t>Power BI Desktop:</a:t>
            </a:r>
            <a:r>
              <a:rPr lang="en-US" sz="1400" dirty="0"/>
              <a:t> Interactive reporting, canvas styling, and drill-throughs.</a:t>
            </a:r>
            <a:endParaRPr lang="ar-EG" sz="1400" dirty="0"/>
          </a:p>
          <a:p>
            <a:r>
              <a:rPr lang="en-US" sz="1400" b="1" dirty="0"/>
              <a:t>DAX Studio:</a:t>
            </a:r>
            <a:r>
              <a:rPr lang="en-US" sz="1400" dirty="0"/>
              <a:t> Performance tuning, query plan analysis, and measure profiling.</a:t>
            </a:r>
          </a:p>
          <a:p>
            <a:br>
              <a:rPr lang="en-US" sz="1400" dirty="0"/>
            </a:br>
            <a:endParaRPr lang="en-US" sz="1400" dirty="0"/>
          </a:p>
          <a:p>
            <a:br>
              <a:rPr lang="en-US" sz="1400" dirty="0"/>
            </a:b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00400" y="868680"/>
            <a:ext cx="2743200" cy="1785366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886968"/>
            <a:ext cx="2743200" cy="384048"/>
          </a:xfrm>
          <a:prstGeom prst="rect">
            <a:avLst/>
          </a:prstGeom>
          <a:solidFill>
            <a:srgbClr val="3A8FD4"/>
          </a:solidFill>
          <a:ln w="12700">
            <a:solidFill>
              <a:srgbClr val="3A8F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25368" y="1046988"/>
            <a:ext cx="259689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Transformation &amp; M</a:t>
            </a:r>
            <a:endParaRPr lang="en-US" sz="1200" dirty="0">
              <a:solidFill>
                <a:schemeClr val="bg1"/>
              </a:solidFill>
            </a:endParaRPr>
          </a:p>
          <a:p>
            <a:pPr algn="ctr"/>
            <a:br>
              <a:rPr lang="en-US" sz="1200" dirty="0"/>
            </a:b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273552" y="1751076"/>
            <a:ext cx="2596896" cy="9784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400" b="1" dirty="0"/>
              <a:t>Power Query (M):</a:t>
            </a:r>
            <a:r>
              <a:rPr lang="en-US" sz="1400" dirty="0"/>
              <a:t> Automated data ingestion, type casting, and staging pipelines.</a:t>
            </a:r>
            <a:endParaRPr lang="ar-EG" sz="1000" dirty="0"/>
          </a:p>
          <a:p>
            <a:r>
              <a:rPr lang="en-US" sz="1400" b="1" dirty="0"/>
              <a:t>DAX (Data Analysis Expressions):</a:t>
            </a:r>
            <a:r>
              <a:rPr lang="en-US" sz="1400" dirty="0"/>
              <a:t> Time intelligence, iterators (SUMX), and ranking.</a:t>
            </a:r>
            <a:endParaRPr lang="en-US" sz="1000" dirty="0"/>
          </a:p>
          <a:p>
            <a:br>
              <a:rPr lang="en-US" sz="1000" dirty="0"/>
            </a:br>
            <a:endParaRPr lang="en-US" sz="1000" dirty="0"/>
          </a:p>
          <a:p>
            <a:br>
              <a:rPr lang="en-US" sz="1000" dirty="0"/>
            </a:b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26480" y="868680"/>
            <a:ext cx="2743200" cy="1785366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26480" y="868680"/>
            <a:ext cx="2743200" cy="38404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36208" y="1037844"/>
            <a:ext cx="259689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Database &amp; Warehousing</a:t>
            </a:r>
            <a:endParaRPr lang="en-US" sz="1200" dirty="0">
              <a:solidFill>
                <a:schemeClr val="bg1"/>
              </a:solidFill>
            </a:endParaRPr>
          </a:p>
          <a:p>
            <a:br>
              <a:rPr lang="en-US" sz="1200" dirty="0"/>
            </a:b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242304" y="1495044"/>
            <a:ext cx="259689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400" b="1" dirty="0"/>
              <a:t>Relational SQL / PostgreSQL:</a:t>
            </a:r>
            <a:r>
              <a:rPr lang="en-US" sz="1400" dirty="0"/>
              <a:t> Structured source repository and views.</a:t>
            </a:r>
            <a:endParaRPr lang="ar-EG" sz="1000" dirty="0"/>
          </a:p>
          <a:p>
            <a:r>
              <a:rPr lang="en-US" sz="1400" b="1" dirty="0"/>
              <a:t>Tabular Data Model:</a:t>
            </a:r>
            <a:r>
              <a:rPr lang="en-US" sz="1400" dirty="0"/>
              <a:t> 1-to-many relationship mapping with zero ambiguity.</a:t>
            </a:r>
            <a:endParaRPr lang="en-US" sz="1000" dirty="0"/>
          </a:p>
          <a:p>
            <a:br>
              <a:rPr lang="en-US" sz="1000" dirty="0"/>
            </a:b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74320" y="278892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74320" y="2788920"/>
            <a:ext cx="2743200" cy="384048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7472" y="2979420"/>
            <a:ext cx="259689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 </a:t>
            </a:r>
            <a:r>
              <a:rPr lang="en-US" sz="1600" b="1" dirty="0">
                <a:solidFill>
                  <a:schemeClr val="bg1"/>
                </a:solidFill>
              </a:rPr>
              <a:t>Excel / Power BI &amp; Analytics</a:t>
            </a:r>
            <a:endParaRPr lang="en-US" sz="1200" b="1" dirty="0">
              <a:solidFill>
                <a:schemeClr val="bg1"/>
              </a:solidFill>
            </a:endParaRPr>
          </a:p>
          <a:p>
            <a:br>
              <a:rPr lang="en-US" sz="1200" dirty="0"/>
            </a:b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29184" y="3363468"/>
            <a:ext cx="2825496" cy="12298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400" b="1" dirty="0"/>
              <a:t>Microsoft Excel:</a:t>
            </a:r>
            <a:r>
              <a:rPr lang="en-US" sz="1400" dirty="0"/>
              <a:t> Data profiling, legacy report auditing, and preliminary validation.</a:t>
            </a:r>
            <a:endParaRPr lang="ar-EG" sz="1400" dirty="0"/>
          </a:p>
          <a:p>
            <a:r>
              <a:rPr lang="en-US" sz="1400" b="1" dirty="0"/>
              <a:t>Power Pivot:</a:t>
            </a:r>
            <a:r>
              <a:rPr lang="en-US" sz="1400" dirty="0"/>
              <a:t> In-memory tabular calculations and preliminary business rules staging.</a:t>
            </a:r>
            <a:endParaRPr lang="en-US" sz="1000" dirty="0"/>
          </a:p>
          <a:p>
            <a:br>
              <a:rPr lang="en-US" sz="1000" dirty="0"/>
            </a:b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18688" y="2830068"/>
            <a:ext cx="2752344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3227832" y="2788920"/>
            <a:ext cx="2743200" cy="384048"/>
          </a:xfrm>
          <a:prstGeom prst="rect">
            <a:avLst/>
          </a:prstGeom>
          <a:solidFill>
            <a:srgbClr val="7986CB"/>
          </a:solidFill>
          <a:ln w="12700">
            <a:solidFill>
              <a:srgbClr val="7986C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73552" y="2976372"/>
            <a:ext cx="259689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Data cleaning &amp; Validation</a:t>
            </a:r>
            <a:endParaRPr lang="en-US" sz="1200" dirty="0">
              <a:solidFill>
                <a:schemeClr val="bg1"/>
              </a:solidFill>
            </a:endParaRPr>
          </a:p>
          <a:p>
            <a:br>
              <a:rPr lang="en-US" sz="1200" dirty="0"/>
            </a:b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126480" y="2816352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6126480" y="2788920"/>
            <a:ext cx="2743200" cy="38404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99632" y="2979420"/>
            <a:ext cx="259689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 DevOps &amp; Control</a:t>
            </a:r>
            <a:endParaRPr lang="en-US" sz="1200" dirty="0">
              <a:solidFill>
                <a:schemeClr val="bg1"/>
              </a:solidFill>
            </a:endParaRPr>
          </a:p>
          <a:p>
            <a:br>
              <a:rPr lang="en-US" sz="1200" dirty="0"/>
            </a:b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217920" y="3404616"/>
            <a:ext cx="259689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400" b="1" dirty="0"/>
              <a:t>Git &amp; GitHub:</a:t>
            </a:r>
            <a:r>
              <a:rPr lang="en-US" sz="1400" dirty="0"/>
              <a:t> Version tracking, </a:t>
            </a:r>
            <a:r>
              <a:rPr lang="en-US" sz="1400" dirty="0" err="1"/>
              <a:t>pbix</a:t>
            </a:r>
            <a:r>
              <a:rPr lang="en-US" sz="1400" dirty="0"/>
              <a:t> template backup, and PBIP integration.</a:t>
            </a:r>
            <a:endParaRPr lang="en-US" sz="1000" dirty="0"/>
          </a:p>
          <a:p>
            <a:r>
              <a:rPr lang="en-US" sz="1400" b="1" dirty="0"/>
              <a:t>Documentation:</a:t>
            </a:r>
            <a:r>
              <a:rPr lang="en-US" sz="1400" dirty="0"/>
              <a:t> Comprehensive data dictionary and measure catalog.</a:t>
            </a:r>
            <a:endParaRPr lang="en-US" sz="1000" dirty="0"/>
          </a:p>
          <a:p>
            <a:br>
              <a:rPr lang="en-US" sz="1000" dirty="0"/>
            </a:b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  <p:sp>
        <p:nvSpPr>
          <p:cNvPr id="37" name="Rectangle 4">
            <a:extLst>
              <a:ext uri="{FF2B5EF4-FFF2-40B4-BE49-F238E27FC236}">
                <a16:creationId xmlns:a16="http://schemas.microsoft.com/office/drawing/2014/main" id="{1A5B2D65-B358-4754-8C1D-C5F6EB93E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6120" y="3201114"/>
            <a:ext cx="27432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Profiling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Identifying outliers and handling missing parameter values. 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Relationship Mapping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Enforcing strict 1-to-many relationships to prevent cross-filtering ambiguity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7587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Requirements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88036" y="1201420"/>
            <a:ext cx="41605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56032" y="841248"/>
            <a:ext cx="64008" cy="384048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859536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Functional Requirements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480" y="1207008"/>
            <a:ext cx="3840480" cy="22860"/>
          </a:xfrm>
          <a:prstGeom prst="rect">
            <a:avLst/>
          </a:prstGeom>
          <a:solidFill>
            <a:srgbClr val="3A8FD4"/>
          </a:solidFill>
          <a:ln w="12700">
            <a:solidFill>
              <a:srgbClr val="3A8F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1261872"/>
            <a:ext cx="393192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FR1</a:t>
            </a:r>
            <a:r>
              <a:rPr lang="en-US" sz="105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 </a:t>
            </a:r>
            <a:r>
              <a:rPr lang="en-US" sz="1400" dirty="0"/>
              <a:t>System shall automatically load and validate historical AI model datasets</a:t>
            </a:r>
            <a:r>
              <a:rPr lang="en-US" sz="1200" dirty="0"/>
              <a:t>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FR2</a:t>
            </a:r>
            <a:r>
              <a:rPr lang="en-US" sz="1200" b="1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FR3</a:t>
            </a:r>
            <a:r>
              <a:rPr lang="en-US" sz="105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>
              <a:solidFill>
                <a:srgbClr val="37474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spcAft>
                <a:spcPts val="500"/>
              </a:spcAft>
              <a:buSzPct val="100000"/>
              <a:buFontTx/>
              <a:buChar char="•"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FR4</a:t>
            </a:r>
            <a:r>
              <a:rPr lang="en-US" sz="9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 </a:t>
            </a:r>
            <a:r>
              <a:rPr lang="en-US" sz="1400" dirty="0"/>
              <a:t>Stakeholders shall drill from enterprise   totals to individual records </a:t>
            </a:r>
            <a:r>
              <a:rPr lang="en-US" sz="1050" dirty="0"/>
              <a:t>.</a:t>
            </a:r>
          </a:p>
          <a:p>
            <a:pPr marL="342900" indent="-342900">
              <a:spcAft>
                <a:spcPts val="500"/>
              </a:spcAft>
              <a:buSzPct val="100000"/>
              <a:buFontTx/>
              <a:buChar char="•"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FR5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:</a:t>
            </a:r>
            <a:r>
              <a:rPr lang="en-US" sz="1200" b="1" dirty="0"/>
              <a:t> (Export):</a:t>
            </a:r>
            <a:r>
              <a:rPr lang="en-US" sz="1200" dirty="0"/>
              <a:t> </a:t>
            </a:r>
            <a:r>
              <a:rPr lang="en-US" sz="1400" dirty="0"/>
              <a:t>Platform shall support PDF and PowerPoint executive export formats.</a:t>
            </a:r>
            <a:endParaRPr lang="en-US" sz="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>
              <a:solidFill>
                <a:srgbClr val="37474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r>
              <a:rPr lang="ar-EG" sz="1200" b="1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 </a:t>
            </a:r>
            <a:br>
              <a:rPr lang="en-US" sz="1050" dirty="0"/>
            </a:b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27448" y="841248"/>
            <a:ext cx="41605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27448" y="841248"/>
            <a:ext cx="64008" cy="384048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859536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Non-Functional Requirements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892040" y="1207008"/>
            <a:ext cx="3840480" cy="228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92040" y="1261872"/>
            <a:ext cx="38404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.</a:t>
            </a: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 Performance</a:t>
            </a:r>
            <a:r>
              <a:rPr lang="en-US" sz="1400" b="1" dirty="0"/>
              <a:t>:</a:t>
            </a:r>
            <a:r>
              <a:rPr lang="en-US" sz="1400" dirty="0"/>
              <a:t> Visual canvas cross-filtering response time strictly &lt; 1.5 seconds.</a:t>
            </a:r>
          </a:p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.</a:t>
            </a: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 Data Security</a:t>
            </a:r>
            <a:r>
              <a:rPr lang="en-US" sz="1400" b="1" dirty="0"/>
              <a:t>:</a:t>
            </a:r>
            <a:r>
              <a:rPr lang="en-US" sz="1400" dirty="0"/>
              <a:t> </a:t>
            </a:r>
            <a:r>
              <a:rPr lang="ar-EG" sz="1400" dirty="0"/>
              <a:t> </a:t>
            </a:r>
            <a:r>
              <a:rPr lang="en-US" sz="1400" dirty="0"/>
              <a:t>Data Security: AES-256 encrypted storage with granular Row-Level Security rules.</a:t>
            </a:r>
            <a:endParaRPr lang="ar-EG" sz="1400" dirty="0"/>
          </a:p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.</a:t>
            </a: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 Scalability</a:t>
            </a:r>
            <a:r>
              <a:rPr lang="en-US" sz="1400" b="1" dirty="0"/>
              <a:t>:</a:t>
            </a:r>
            <a:r>
              <a:rPr lang="en-US" sz="1400" dirty="0"/>
              <a:t> Data model supports expansion up to 10+ million records without lag.</a:t>
            </a:r>
          </a:p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.</a:t>
            </a: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 Availability</a:t>
            </a:r>
            <a:r>
              <a:rPr lang="en-US" sz="1400" b="1" dirty="0"/>
              <a:t>:</a:t>
            </a:r>
            <a:r>
              <a:rPr lang="en-US" sz="1400" dirty="0"/>
              <a:t> 99.9% uptime for decision support reporting services.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.</a:t>
            </a: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 Usability</a:t>
            </a:r>
            <a:r>
              <a:rPr lang="en-US" sz="1400" b="1" dirty="0"/>
              <a:t>:</a:t>
            </a:r>
            <a:r>
              <a:rPr lang="en-US" sz="1400" dirty="0"/>
              <a:t> Intuitive design matching WCAG AA accessibility standards.</a:t>
            </a:r>
          </a:p>
        </p:txBody>
      </p:sp>
      <p:sp>
        <p:nvSpPr>
          <p:cNvPr id="16" name="Text 13"/>
          <p:cNvSpPr/>
          <p:nvPr/>
        </p:nvSpPr>
        <p:spPr>
          <a:xfrm>
            <a:off x="457200" y="44348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EB8D8BE3-C1B5-4898-B83E-D840907B1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477" y="1773280"/>
            <a:ext cx="3104642" cy="630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shall dynamically calculate total parameters and citation metrics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2E073B06-24A6-42C8-947A-8F90D8A8D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477" y="2277757"/>
            <a:ext cx="29781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shall cross-filter visuals by Domain, Organization, and Country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6764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61772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Implementation &amp; Key Features</a:t>
            </a:r>
            <a:endParaRPr lang="en-US" sz="3200" b="1" dirty="0">
              <a:solidFill>
                <a:schemeClr val="bg1"/>
              </a:solidFill>
            </a:endParaRPr>
          </a:p>
          <a:p>
            <a:pPr algn="ctr"/>
            <a:br>
              <a:rPr lang="en-US" sz="3200" b="1" dirty="0">
                <a:solidFill>
                  <a:schemeClr val="bg1"/>
                </a:solidFill>
              </a:rPr>
            </a:b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841248"/>
            <a:ext cx="4160520" cy="2880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EEF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347472" y="868680"/>
            <a:ext cx="3977640" cy="2834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Screenshot / Demo 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[Insert UI screenshot or demo image here]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02810" y="830580"/>
            <a:ext cx="4160520" cy="2880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EEF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4818888" y="868680"/>
            <a:ext cx="3977640" cy="2834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Screenshot / Demo 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[Insert UI screenshot or demo image here]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" y="376732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highlights from the demo: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0040" y="4023360"/>
            <a:ext cx="4114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</a:rPr>
              <a:t>[Highlight 1 — key feature shown]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</a:rPr>
              <a:t>[Highlight 2 — result or output]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</a:rPr>
              <a:t>[Highlight 3 — user interaction or impact]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27448" y="376732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Demo Link / QR Code: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27448" y="4041648"/>
            <a:ext cx="18288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702810" y="4149852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[https://your-demo-link.com]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  <p:pic>
        <p:nvPicPr>
          <p:cNvPr id="1026" name="Picture 2" descr="image.png">
            <a:extLst>
              <a:ext uri="{FF2B5EF4-FFF2-40B4-BE49-F238E27FC236}">
                <a16:creationId xmlns:a16="http://schemas.microsoft.com/office/drawing/2014/main" id="{83DE489A-9A6C-4DB6-9B7B-077C59C5F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3550" y="247269"/>
            <a:ext cx="276225" cy="24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&amp; Key Performance Indicators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17932" y="914400"/>
            <a:ext cx="201168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10312" y="841248"/>
            <a:ext cx="2011680" cy="64008"/>
          </a:xfrm>
          <a:prstGeom prst="rect">
            <a:avLst/>
          </a:prstGeom>
          <a:solidFill>
            <a:srgbClr val="1E5CA8"/>
          </a:solidFill>
          <a:ln w="12700">
            <a:solidFill>
              <a:srgbClr val="1E5C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3712" y="1885950"/>
            <a:ext cx="2011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0B0F0"/>
                </a:solidFill>
              </a:rPr>
              <a:t>99.2%</a:t>
            </a:r>
            <a:endParaRPr lang="en-US" sz="6000" dirty="0">
              <a:solidFill>
                <a:srgbClr val="00B0F0"/>
              </a:solidFill>
            </a:endParaRPr>
          </a:p>
          <a:p>
            <a:br>
              <a:rPr lang="en-US" sz="6000" dirty="0">
                <a:solidFill>
                  <a:srgbClr val="00B0F0"/>
                </a:solidFill>
              </a:rPr>
            </a:br>
            <a:endParaRPr lang="en-US" sz="6000" dirty="0">
              <a:solidFill>
                <a:srgbClr val="00B0F0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306070" y="1762506"/>
            <a:ext cx="192024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b="1" dirty="0"/>
              <a:t>Data Accuracy</a:t>
            </a:r>
            <a:endParaRPr lang="en-US" sz="900" dirty="0"/>
          </a:p>
          <a:p>
            <a:r>
              <a:rPr lang="en-US" sz="1400" dirty="0"/>
              <a:t>Validated vs. Source Data</a:t>
            </a:r>
            <a:endParaRPr lang="en-US" sz="700" dirty="0"/>
          </a:p>
          <a:p>
            <a:br>
              <a:rPr lang="en-US" sz="900" dirty="0"/>
            </a:br>
            <a:br>
              <a:rPr lang="en-US" sz="900" dirty="0"/>
            </a:b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50592" y="841248"/>
            <a:ext cx="201168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50592" y="841248"/>
            <a:ext cx="2011680" cy="64008"/>
          </a:xfrm>
          <a:prstGeom prst="rect">
            <a:avLst/>
          </a:prstGeom>
          <a:solidFill>
            <a:srgbClr val="3A8FD4"/>
          </a:solidFill>
          <a:ln w="12700">
            <a:solidFill>
              <a:srgbClr val="3A8F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31236" y="3168396"/>
            <a:ext cx="2011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00B0F0"/>
                </a:solidFill>
              </a:rPr>
              <a:t>0.8s</a:t>
            </a:r>
            <a:endParaRPr lang="en-US" sz="6000" b="1" dirty="0">
              <a:solidFill>
                <a:srgbClr val="00B0F0"/>
              </a:solidFill>
            </a:endParaRPr>
          </a:p>
          <a:p>
            <a:br>
              <a:rPr lang="en-US" sz="6000" b="1" dirty="0">
                <a:solidFill>
                  <a:srgbClr val="00B0F0"/>
                </a:solidFill>
              </a:rPr>
            </a:br>
            <a:br>
              <a:rPr lang="en-US" sz="11500" b="1" dirty="0">
                <a:solidFill>
                  <a:srgbClr val="00B0F0"/>
                </a:solidFill>
              </a:rPr>
            </a:br>
            <a:endParaRPr lang="en-US" sz="11500" b="1" dirty="0">
              <a:solidFill>
                <a:srgbClr val="00B0F0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2545842" y="1808226"/>
            <a:ext cx="19202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b="1" dirty="0"/>
              <a:t>Query Latency</a:t>
            </a:r>
            <a:endParaRPr lang="ar-EG" b="1" dirty="0"/>
          </a:p>
          <a:p>
            <a:r>
              <a:rPr lang="en-US" sz="1400" dirty="0"/>
              <a:t>Sub-second Cross-filtering</a:t>
            </a:r>
            <a:endParaRPr lang="en-US" sz="700" dirty="0"/>
          </a:p>
          <a:p>
            <a:br>
              <a:rPr lang="en-US" sz="900" dirty="0"/>
            </a:br>
            <a:endParaRPr lang="en-US" sz="900" dirty="0"/>
          </a:p>
          <a:p>
            <a:br>
              <a:rPr lang="en-US" sz="900" dirty="0"/>
            </a:b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68901" y="916178"/>
            <a:ext cx="2011680" cy="1589278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45152" y="841248"/>
            <a:ext cx="2011680" cy="640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58384" y="1969135"/>
            <a:ext cx="2011680" cy="8275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00B0F0"/>
                </a:solidFill>
              </a:rPr>
              <a:t>85%</a:t>
            </a:r>
            <a:endParaRPr lang="en-US" sz="6600" dirty="0">
              <a:solidFill>
                <a:srgbClr val="00B0F0"/>
              </a:solidFill>
            </a:endParaRPr>
          </a:p>
          <a:p>
            <a:br>
              <a:rPr lang="en-US" sz="6600" dirty="0">
                <a:solidFill>
                  <a:srgbClr val="00B0F0"/>
                </a:solidFill>
              </a:rPr>
            </a:br>
            <a:endParaRPr lang="en-US" sz="6600" dirty="0">
              <a:solidFill>
                <a:srgbClr val="00B0F0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4829429" y="1687068"/>
            <a:ext cx="1767967" cy="8567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b="1" dirty="0"/>
              <a:t>Time Saved</a:t>
            </a:r>
            <a:endParaRPr lang="en-US" sz="900" dirty="0"/>
          </a:p>
          <a:p>
            <a:r>
              <a:rPr lang="en-US" sz="1100" b="1" dirty="0"/>
              <a:t>In Periodic Report Generation</a:t>
            </a:r>
            <a:endParaRPr lang="en-US" sz="500" b="1" dirty="0"/>
          </a:p>
          <a:p>
            <a:br>
              <a:rPr lang="en-US" sz="900" dirty="0"/>
            </a:b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839712" y="892239"/>
            <a:ext cx="2011680" cy="1629219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839712" y="841248"/>
            <a:ext cx="2011680" cy="64008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94448" y="1481963"/>
            <a:ext cx="2011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00B0F0"/>
                </a:solidFill>
              </a:rPr>
              <a:t>3,577</a:t>
            </a:r>
            <a:br>
              <a:rPr lang="en-US" sz="6000" b="1" dirty="0">
                <a:solidFill>
                  <a:srgbClr val="00B0F0"/>
                </a:solidFill>
              </a:rPr>
            </a:br>
            <a:endParaRPr lang="en-US" sz="6000" b="1" dirty="0">
              <a:solidFill>
                <a:srgbClr val="00B0F0"/>
              </a:solidFill>
            </a:endParaRPr>
          </a:p>
        </p:txBody>
      </p:sp>
      <p:sp>
        <p:nvSpPr>
          <p:cNvPr id="21" name="Text 18"/>
          <p:cNvSpPr/>
          <p:nvPr/>
        </p:nvSpPr>
        <p:spPr>
          <a:xfrm>
            <a:off x="6863461" y="1772286"/>
            <a:ext cx="216712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b="1" dirty="0"/>
              <a:t>AI Models Tracked</a:t>
            </a:r>
            <a:r>
              <a:rPr lang="en-US" sz="1600" dirty="0"/>
              <a:t> </a:t>
            </a:r>
            <a:endParaRPr lang="ar-EG" sz="1600" dirty="0"/>
          </a:p>
          <a:p>
            <a:pPr algn="ctr"/>
            <a:r>
              <a:rPr lang="en-US" sz="1600" dirty="0"/>
              <a:t>From </a:t>
            </a:r>
            <a:r>
              <a:rPr lang="en-US" sz="1400" dirty="0"/>
              <a:t>1957 to 2026</a:t>
            </a:r>
            <a:endParaRPr lang="en-US" sz="600" b="1" dirty="0"/>
          </a:p>
          <a:p>
            <a:br>
              <a:rPr lang="en-US" sz="800" dirty="0"/>
            </a:b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188226" y="2744978"/>
            <a:ext cx="8883372" cy="178130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EEF"/>
            </a:solidFill>
            <a:prstDash val="dash"/>
          </a:ln>
        </p:spPr>
      </p:sp>
      <p:sp>
        <p:nvSpPr>
          <p:cNvPr id="23" name="Text 20"/>
          <p:cNvSpPr/>
          <p:nvPr/>
        </p:nvSpPr>
        <p:spPr>
          <a:xfrm>
            <a:off x="320040" y="2660904"/>
            <a:ext cx="8503920" cy="1865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  <p:pic>
        <p:nvPicPr>
          <p:cNvPr id="3074" name="Picture 2" descr="image.png">
            <a:extLst>
              <a:ext uri="{FF2B5EF4-FFF2-40B4-BE49-F238E27FC236}">
                <a16:creationId xmlns:a16="http://schemas.microsoft.com/office/drawing/2014/main" id="{F64A4873-BB57-4106-B0E2-B27543F0B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12" y="1622552"/>
            <a:ext cx="8819208" cy="3230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Impact &amp; Innovation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46888" y="809244"/>
            <a:ext cx="86410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42824" y="816102"/>
            <a:ext cx="64008" cy="384048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912364"/>
            <a:ext cx="832104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4348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900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48C91EC5-E61F-4E1F-8C7E-B611F34F6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" y="1447242"/>
            <a:ext cx="8366760" cy="2416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Google Sans Text"/>
              </a:rPr>
              <a:t>National Strategic Alignment</a:t>
            </a:r>
            <a:r>
              <a:rPr kumimoji="0" lang="ar-EG" altLang="en-US" sz="14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Google Sans Text"/>
              </a:rPr>
              <a:t>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Egypt Vision 2030: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Direct contribution to the National Digital Transformation initiative by automating legacy manual reporting.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Institutional Modernization: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Accelerates evidence-based governance inside public and defense sectors.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Resource Stewardship: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Drastic reduction in paper-based workflows and administrative overhead. </a:t>
            </a:r>
            <a:endParaRPr kumimoji="0" lang="ar-EG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Google Sans Text"/>
              </a:rPr>
              <a:t>Unique Innovation &amp; Value</a:t>
            </a:r>
            <a:r>
              <a:rPr kumimoji="0" lang="ar-EG" altLang="en-US" sz="14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Google Sans Text"/>
              </a:rPr>
              <a:t>: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Self-Service BI: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Enables non-technical executives to discover patterns without needing IT intervention.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Proactive Anomaly Alerts: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Highlights critical variances before escalating into operational bottlenecks.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Enterprise Readiness: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Modular data model ready for immediate scalability across regional operational units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453D83A-560E-4BA7-9D0E-A54DD2A8CA43}"/>
              </a:ext>
            </a:extLst>
          </p:cNvPr>
          <p:cNvCxnSpPr/>
          <p:nvPr/>
        </p:nvCxnSpPr>
        <p:spPr>
          <a:xfrm>
            <a:off x="2628900" y="2654300"/>
            <a:ext cx="35941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</a:ln>
        </p:spPr>
      </p:sp>
      <p:sp>
        <p:nvSpPr>
          <p:cNvPr id="3" name="TitleBar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</a:ln>
        </p:spPr>
      </p:sp>
      <p:sp>
        <p:nvSpPr>
          <p:cNvPr id="4" name="TitleText"/>
          <p:cNvSpPr/>
          <p:nvPr/>
        </p:nvSpPr>
        <p:spPr>
          <a:xfrm>
            <a:off x="2666716" y="607504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chemeClr val="bg1"/>
                </a:solidFill>
              </a:rPr>
              <a:t>Future Roadmap &amp; Expansion</a:t>
            </a:r>
            <a:endParaRPr lang="en-US" sz="3600" dirty="0">
              <a:solidFill>
                <a:schemeClr val="bg1"/>
              </a:solidFill>
            </a:endParaRPr>
          </a:p>
          <a:p>
            <a:br>
              <a:rPr lang="en-US" sz="3600" dirty="0">
                <a:solidFill>
                  <a:schemeClr val="bg1"/>
                </a:solidFill>
              </a:rPr>
            </a:br>
            <a:endParaRPr lang="en-US" sz="36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pic>
        <p:nvPicPr>
          <p:cNvPr id="5" name="Log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ubtitle"/>
          <p:cNvSpPr/>
          <p:nvPr/>
        </p:nvSpPr>
        <p:spPr>
          <a:xfrm>
            <a:off x="256032" y="768096"/>
            <a:ext cx="8616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i="1" dirty="0">
              <a:solidFill>
                <a:srgbClr val="37474F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CardA"/>
          <p:cNvSpPr/>
          <p:nvPr/>
        </p:nvSpPr>
        <p:spPr>
          <a:xfrm>
            <a:off x="256032" y="987552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>
            <a:outerShdw blurRad="50800" dist="18288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CardAAccent"/>
          <p:cNvSpPr/>
          <p:nvPr/>
        </p:nvSpPr>
        <p:spPr>
          <a:xfrm>
            <a:off x="256032" y="987552"/>
            <a:ext cx="2743200" cy="54864"/>
          </a:xfrm>
          <a:prstGeom prst="rect">
            <a:avLst/>
          </a:prstGeom>
          <a:solidFill>
            <a:srgbClr val="00AEEF"/>
          </a:solidFill>
          <a:ln w="0">
            <a:noFill/>
          </a:ln>
        </p:spPr>
      </p:sp>
      <p:sp>
        <p:nvSpPr>
          <p:cNvPr id="12" name="CardAText"/>
          <p:cNvSpPr/>
          <p:nvPr/>
        </p:nvSpPr>
        <p:spPr>
          <a:xfrm>
            <a:off x="301752" y="1005840"/>
            <a:ext cx="2652480" cy="1609344"/>
          </a:xfrm>
          <a:prstGeom prst="rect">
            <a:avLst/>
          </a:prstGeom>
          <a:noFill/>
        </p:spPr>
        <p:txBody>
          <a:bodyPr wrap="square" lIns="91440" tIns="91440" rIns="91440" bIns="45720" rtlCol="0" anchor="t"/>
          <a:lstStyle/>
          <a:p>
            <a:pPr algn="ctr"/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Predictive AI Integration</a:t>
            </a:r>
            <a:endParaRPr lang="en-US" sz="105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/>
              <a:t>Integrate automated machine learning models via Python to forecast future quarterly demands directly into Power BI </a:t>
            </a:r>
            <a:r>
              <a:rPr lang="en-US" sz="1400" b="1" dirty="0"/>
              <a:t>visual cards.</a:t>
            </a:r>
            <a:endParaRPr lang="en-US" sz="800" b="1" dirty="0"/>
          </a:p>
          <a:p>
            <a:br>
              <a:rPr lang="en-US" sz="1000" dirty="0"/>
            </a:br>
            <a:endParaRPr lang="en-US" sz="1000" dirty="0">
              <a:solidFill>
                <a:srgbClr val="37474F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CardB"/>
          <p:cNvSpPr/>
          <p:nvPr/>
        </p:nvSpPr>
        <p:spPr>
          <a:xfrm>
            <a:off x="3108456" y="1069848"/>
            <a:ext cx="2743200" cy="1545336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>
            <a:outerShdw blurRad="50800" dist="18288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CardBAccent"/>
          <p:cNvSpPr/>
          <p:nvPr/>
        </p:nvSpPr>
        <p:spPr>
          <a:xfrm>
            <a:off x="3108456" y="1025291"/>
            <a:ext cx="2743200" cy="54864"/>
          </a:xfrm>
          <a:prstGeom prst="rect">
            <a:avLst/>
          </a:prstGeom>
          <a:solidFill>
            <a:srgbClr val="1E5CA8"/>
          </a:solidFill>
          <a:ln w="0">
            <a:noFill/>
          </a:ln>
        </p:spPr>
      </p:sp>
      <p:sp>
        <p:nvSpPr>
          <p:cNvPr id="22" name="CardBText"/>
          <p:cNvSpPr/>
          <p:nvPr/>
        </p:nvSpPr>
        <p:spPr>
          <a:xfrm>
            <a:off x="3154176" y="1045723"/>
            <a:ext cx="2652480" cy="1609344"/>
          </a:xfrm>
          <a:prstGeom prst="rect">
            <a:avLst/>
          </a:prstGeom>
          <a:noFill/>
        </p:spPr>
        <p:txBody>
          <a:bodyPr wrap="square" lIns="91440" tIns="91440" rIns="91440" bIns="45720" rtlCol="0" anchor="t"/>
          <a:lstStyle/>
          <a:p>
            <a:pPr algn="ctr"/>
            <a:r>
              <a:rPr lang="en-US" sz="1600" b="1" dirty="0">
                <a:solidFill>
                  <a:schemeClr val="accent4">
                    <a:lumMod val="75000"/>
                  </a:schemeClr>
                </a:solidFill>
              </a:rPr>
              <a:t>Real-Time Streaming</a:t>
            </a:r>
            <a:endParaRPr lang="en-US" sz="1050" b="1" dirty="0">
              <a:solidFill>
                <a:schemeClr val="accent4">
                  <a:lumMod val="75000"/>
                </a:schemeClr>
              </a:solidFill>
            </a:endParaRPr>
          </a:p>
          <a:p>
            <a:br>
              <a:rPr lang="en-US" sz="1100" dirty="0"/>
            </a:br>
            <a:r>
              <a:rPr lang="ar-EG" sz="1100" dirty="0"/>
              <a:t> </a:t>
            </a:r>
            <a:r>
              <a:rPr lang="en-US" sz="1200" b="1" dirty="0"/>
              <a:t>Deploy Direct Query and streaming </a:t>
            </a:r>
            <a:r>
              <a:rPr lang="ar-EG" sz="1200" b="1" dirty="0"/>
              <a:t>  </a:t>
            </a:r>
            <a:r>
              <a:rPr lang="en-US" sz="1200" b="1" dirty="0"/>
              <a:t>push datasets for second-by-second tactical operational telemetry monitoring.</a:t>
            </a:r>
            <a:endParaRPr lang="en-US" sz="1000" b="1" dirty="0"/>
          </a:p>
          <a:p>
            <a:br>
              <a:rPr lang="en-US" sz="1000" dirty="0"/>
            </a:br>
            <a:endParaRPr lang="en-US" sz="1000" dirty="0">
              <a:solidFill>
                <a:srgbClr val="37474F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CardC"/>
          <p:cNvSpPr/>
          <p:nvPr/>
        </p:nvSpPr>
        <p:spPr>
          <a:xfrm>
            <a:off x="5960880" y="987552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>
            <a:outerShdw blurRad="50800" dist="18288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CardCAccent"/>
          <p:cNvSpPr/>
          <p:nvPr/>
        </p:nvSpPr>
        <p:spPr>
          <a:xfrm>
            <a:off x="5960880" y="987552"/>
            <a:ext cx="2743200" cy="54864"/>
          </a:xfrm>
          <a:prstGeom prst="rect">
            <a:avLst/>
          </a:prstGeom>
          <a:solidFill>
            <a:srgbClr val="C8A84B"/>
          </a:solidFill>
          <a:ln w="0">
            <a:noFill/>
          </a:ln>
        </p:spPr>
      </p:sp>
      <p:sp>
        <p:nvSpPr>
          <p:cNvPr id="32" name="CardCText"/>
          <p:cNvSpPr/>
          <p:nvPr/>
        </p:nvSpPr>
        <p:spPr>
          <a:xfrm>
            <a:off x="6006600" y="1005840"/>
            <a:ext cx="2652480" cy="1609344"/>
          </a:xfrm>
          <a:prstGeom prst="rect">
            <a:avLst/>
          </a:prstGeom>
          <a:noFill/>
        </p:spPr>
        <p:txBody>
          <a:bodyPr wrap="square" lIns="91440" tIns="91440" rIns="91440" bIns="45720" rtlCol="0" anchor="t"/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Mobile BI App Layout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  <a:p>
            <a:br>
              <a:rPr lang="en-US" sz="1100" dirty="0"/>
            </a:br>
            <a:r>
              <a:rPr lang="en-US" sz="1200" b="1" dirty="0"/>
              <a:t>Build customized phone-layout views for leadership to track critical alerts and KPIs on handheld devices on the move.</a:t>
            </a:r>
            <a:endParaRPr lang="en-US" sz="700" b="1" dirty="0"/>
          </a:p>
          <a:p>
            <a:br>
              <a:rPr lang="en-US" sz="1000" dirty="0"/>
            </a:br>
            <a:endParaRPr lang="en-US" sz="1000" dirty="0">
              <a:solidFill>
                <a:srgbClr val="37474F"/>
              </a:solidFill>
              <a:latin typeface="Calibri" panose="020F0502020204030204" pitchFamily="34" charset="0"/>
            </a:endParaRPr>
          </a:p>
        </p:txBody>
      </p:sp>
      <p:sp>
        <p:nvSpPr>
          <p:cNvPr id="40" name="CardD"/>
          <p:cNvSpPr/>
          <p:nvPr/>
        </p:nvSpPr>
        <p:spPr>
          <a:xfrm>
            <a:off x="256032" y="2706624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>
            <a:outerShdw blurRad="50800" dist="18288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CardDAccent"/>
          <p:cNvSpPr/>
          <p:nvPr/>
        </p:nvSpPr>
        <p:spPr>
          <a:xfrm>
            <a:off x="256032" y="2706624"/>
            <a:ext cx="2743200" cy="54864"/>
          </a:xfrm>
          <a:prstGeom prst="rect">
            <a:avLst/>
          </a:prstGeom>
          <a:solidFill>
            <a:srgbClr val="3A8FD4"/>
          </a:solidFill>
          <a:ln w="0">
            <a:noFill/>
          </a:ln>
        </p:spPr>
      </p:sp>
      <p:sp>
        <p:nvSpPr>
          <p:cNvPr id="42" name="CardDText"/>
          <p:cNvSpPr/>
          <p:nvPr/>
        </p:nvSpPr>
        <p:spPr>
          <a:xfrm>
            <a:off x="301752" y="2724912"/>
            <a:ext cx="2652480" cy="1609344"/>
          </a:xfrm>
          <a:prstGeom prst="rect">
            <a:avLst/>
          </a:prstGeom>
          <a:noFill/>
        </p:spPr>
        <p:txBody>
          <a:bodyPr wrap="square" lIns="91440" tIns="91440" rIns="91440" bIns="45720" rtlCol="0" anchor="t"/>
          <a:lstStyle/>
          <a:p>
            <a:pPr algn="ctr"/>
            <a:r>
              <a:rPr lang="ar-EG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Enterprise Data Gateway</a:t>
            </a:r>
            <a:endParaRPr lang="en-US" sz="1050" b="1" dirty="0">
              <a:solidFill>
                <a:schemeClr val="accent1">
                  <a:lumMod val="75000"/>
                </a:schemeClr>
              </a:solidFill>
            </a:endParaRPr>
          </a:p>
          <a:p>
            <a:br>
              <a:rPr lang="en-US" sz="1100" dirty="0"/>
            </a:br>
            <a:r>
              <a:rPr lang="en-US" sz="1200" b="1" dirty="0"/>
              <a:t>Establish automated on-premises data gateways for synchronized hourly scheduled refreshes without manual intervention.</a:t>
            </a:r>
            <a:endParaRPr lang="en-US" sz="700" b="1" dirty="0"/>
          </a:p>
          <a:p>
            <a:br>
              <a:rPr lang="en-US" sz="700" b="1" dirty="0"/>
            </a:br>
            <a:endParaRPr lang="en-US" sz="700" b="1" dirty="0">
              <a:solidFill>
                <a:srgbClr val="37474F"/>
              </a:solidFill>
              <a:latin typeface="Calibri" panose="020F0502020204030204" pitchFamily="34" charset="0"/>
            </a:endParaRPr>
          </a:p>
        </p:txBody>
      </p:sp>
      <p:sp>
        <p:nvSpPr>
          <p:cNvPr id="50" name="CardE"/>
          <p:cNvSpPr/>
          <p:nvPr/>
        </p:nvSpPr>
        <p:spPr>
          <a:xfrm>
            <a:off x="3090672" y="2734056"/>
            <a:ext cx="2743200" cy="1623935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>
            <a:outerShdw blurRad="50800" dist="18288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1" name="CardEAccent"/>
          <p:cNvSpPr/>
          <p:nvPr/>
        </p:nvSpPr>
        <p:spPr>
          <a:xfrm>
            <a:off x="3108456" y="2706624"/>
            <a:ext cx="2743200" cy="54864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</p:sp>
      <p:sp>
        <p:nvSpPr>
          <p:cNvPr id="52" name="CardEText"/>
          <p:cNvSpPr/>
          <p:nvPr/>
        </p:nvSpPr>
        <p:spPr>
          <a:xfrm>
            <a:off x="3154176" y="2724912"/>
            <a:ext cx="2652480" cy="1609344"/>
          </a:xfrm>
          <a:prstGeom prst="rect">
            <a:avLst/>
          </a:prstGeom>
          <a:noFill/>
        </p:spPr>
        <p:txBody>
          <a:bodyPr wrap="square" lIns="91440" tIns="91440" rIns="91440" bIns="45720" rtlCol="0" anchor="t"/>
          <a:lstStyle/>
          <a:p>
            <a:pPr algn="ctr"/>
            <a:r>
              <a:rPr lang="en-US" sz="1600" b="1" dirty="0">
                <a:solidFill>
                  <a:schemeClr val="accent4">
                    <a:lumMod val="75000"/>
                  </a:schemeClr>
                </a:solidFill>
              </a:rPr>
              <a:t>Natural Language Q&amp;A</a:t>
            </a:r>
            <a:endParaRPr lang="en-US" sz="1050" dirty="0">
              <a:solidFill>
                <a:schemeClr val="accent4">
                  <a:lumMod val="75000"/>
                </a:schemeClr>
              </a:solidFill>
            </a:endParaRPr>
          </a:p>
          <a:p>
            <a:br>
              <a:rPr lang="en-US" sz="1100" dirty="0"/>
            </a:br>
            <a:r>
              <a:rPr lang="en-US" sz="1200" b="1" dirty="0"/>
              <a:t>Enable Power BI Q&amp;A feature allowing decision-makers to ask queries in plain language (Arabic/English) and receive instant charts.</a:t>
            </a:r>
            <a:endParaRPr lang="en-US" sz="700" b="1" dirty="0"/>
          </a:p>
          <a:p>
            <a:br>
              <a:rPr lang="en-US" sz="700" b="1" dirty="0"/>
            </a:br>
            <a:endParaRPr lang="en-US" sz="700" b="1" dirty="0">
              <a:solidFill>
                <a:srgbClr val="37474F"/>
              </a:solidFill>
              <a:latin typeface="Calibri" panose="020F0502020204030204" pitchFamily="34" charset="0"/>
            </a:endParaRPr>
          </a:p>
        </p:txBody>
      </p:sp>
      <p:sp>
        <p:nvSpPr>
          <p:cNvPr id="60" name="CardF"/>
          <p:cNvSpPr/>
          <p:nvPr/>
        </p:nvSpPr>
        <p:spPr>
          <a:xfrm>
            <a:off x="5960880" y="2729484"/>
            <a:ext cx="2743200" cy="1615537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>
            <a:outerShdw blurRad="50800" dist="18288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1" name="CardFAccent"/>
          <p:cNvSpPr/>
          <p:nvPr/>
        </p:nvSpPr>
        <p:spPr>
          <a:xfrm>
            <a:off x="5960880" y="2706624"/>
            <a:ext cx="2743200" cy="54864"/>
          </a:xfrm>
          <a:prstGeom prst="rect">
            <a:avLst/>
          </a:prstGeom>
          <a:solidFill>
            <a:srgbClr val="1A2D5A"/>
          </a:solidFill>
          <a:ln w="0">
            <a:noFill/>
          </a:ln>
        </p:spPr>
      </p:sp>
      <p:sp>
        <p:nvSpPr>
          <p:cNvPr id="62" name="CardFText"/>
          <p:cNvSpPr/>
          <p:nvPr/>
        </p:nvSpPr>
        <p:spPr>
          <a:xfrm>
            <a:off x="6006600" y="2724912"/>
            <a:ext cx="2652480" cy="1627632"/>
          </a:xfrm>
          <a:prstGeom prst="rect">
            <a:avLst/>
          </a:prstGeom>
          <a:noFill/>
        </p:spPr>
        <p:txBody>
          <a:bodyPr wrap="square" lIns="91440" tIns="91440" rIns="91440" bIns="45720" rtlCol="0" anchor="t"/>
          <a:lstStyle/>
          <a:p>
            <a:pPr algn="ctr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Cloud Migration</a:t>
            </a:r>
            <a:endParaRPr lang="en-US" sz="11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br>
              <a:rPr lang="en-US" sz="1100" dirty="0"/>
            </a:br>
            <a:r>
              <a:rPr lang="en-US" sz="1200" b="1" dirty="0"/>
              <a:t>Transition tabular models to Microsoft Fabric or Azure Synapse Analytics for enterprise petabyte-scale data lakes.</a:t>
            </a:r>
            <a:endParaRPr lang="en-US" sz="700" b="1" dirty="0"/>
          </a:p>
          <a:p>
            <a:br>
              <a:rPr lang="en-US" sz="700" b="1" dirty="0"/>
            </a:br>
            <a:endParaRPr lang="en-US" sz="700" b="1" dirty="0">
              <a:solidFill>
                <a:srgbClr val="37474F"/>
              </a:solidFill>
              <a:latin typeface="Calibri" panose="020F0502020204030204" pitchFamily="34" charset="0"/>
            </a:endParaRPr>
          </a:p>
        </p:txBody>
      </p:sp>
      <p:sp>
        <p:nvSpPr>
          <p:cNvPr id="70" name="FooterBar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</a:ln>
        </p:spPr>
      </p:sp>
      <p:sp>
        <p:nvSpPr>
          <p:cNvPr id="71" name="FooterText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</a:rPr>
              <a:t>DiGiLiANS — Digital Pioneers Initiative  |  Capstone Project Defense 2026</a:t>
            </a:r>
          </a:p>
        </p:txBody>
      </p:sp>
      <p:sp>
        <p:nvSpPr>
          <p:cNvPr id="72" name="FooterNum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</a:rPr>
              <a:t>15</a:t>
            </a:r>
          </a:p>
        </p:txBody>
      </p:sp>
      <p:pic>
        <p:nvPicPr>
          <p:cNvPr id="6146" name="Picture 2" descr="image.png">
            <a:extLst>
              <a:ext uri="{FF2B5EF4-FFF2-40B4-BE49-F238E27FC236}">
                <a16:creationId xmlns:a16="http://schemas.microsoft.com/office/drawing/2014/main" id="{E269EE2B-DACF-48E1-964D-EF8F88A66B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070" y="1138488"/>
            <a:ext cx="182979" cy="175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image.png">
            <a:extLst>
              <a:ext uri="{FF2B5EF4-FFF2-40B4-BE49-F238E27FC236}">
                <a16:creationId xmlns:a16="http://schemas.microsoft.com/office/drawing/2014/main" id="{EE91DB74-F34F-491F-85FF-D82E65495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703" y="1112159"/>
            <a:ext cx="276225" cy="23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image.png">
            <a:extLst>
              <a:ext uri="{FF2B5EF4-FFF2-40B4-BE49-F238E27FC236}">
                <a16:creationId xmlns:a16="http://schemas.microsoft.com/office/drawing/2014/main" id="{38827E0E-6C85-4AFE-BD0C-4EAEAB0C1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7918" y="1102634"/>
            <a:ext cx="190500" cy="24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image.png">
            <a:extLst>
              <a:ext uri="{FF2B5EF4-FFF2-40B4-BE49-F238E27FC236}">
                <a16:creationId xmlns:a16="http://schemas.microsoft.com/office/drawing/2014/main" id="{22C18545-4057-4C93-B653-698CBB4F0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014" y="2843403"/>
            <a:ext cx="244206" cy="192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image.png">
            <a:extLst>
              <a:ext uri="{FF2B5EF4-FFF2-40B4-BE49-F238E27FC236}">
                <a16:creationId xmlns:a16="http://schemas.microsoft.com/office/drawing/2014/main" id="{2D24C1C3-0306-49F9-BEF6-818704ED9A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703" y="2838068"/>
            <a:ext cx="235502" cy="18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 descr="image.png">
            <a:extLst>
              <a:ext uri="{FF2B5EF4-FFF2-40B4-BE49-F238E27FC236}">
                <a16:creationId xmlns:a16="http://schemas.microsoft.com/office/drawing/2014/main" id="{427030D1-B769-4133-8320-A70C017B4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1158" y="2838068"/>
            <a:ext cx="314325" cy="24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Contributions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34891" y="841248"/>
            <a:ext cx="86410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56032" y="841248"/>
            <a:ext cx="64008" cy="384048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914400"/>
            <a:ext cx="832104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</a:t>
            </a:r>
            <a:r>
              <a:rPr lang="en-US" sz="1400" b="1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Nermeen Ahmed </a:t>
            </a: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 — [</a:t>
            </a:r>
            <a:r>
              <a:rPr lang="ar-EG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</a:t>
            </a:r>
            <a:r>
              <a:rPr lang="en-US" sz="1400" b="1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Mariam Samir </a:t>
            </a: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     — [Data collection ,   ]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</a:t>
            </a:r>
            <a:r>
              <a:rPr lang="en-US" sz="1400" b="1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Shahd Mohamed </a:t>
            </a: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 — [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 Modeling </a:t>
            </a: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 BI UI/UX Design</a:t>
            </a:r>
            <a:r>
              <a:rPr lang="ar-EG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</a:t>
            </a:r>
            <a:r>
              <a:rPr lang="en-US" sz="1400" b="1" dirty="0" err="1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Menna</a:t>
            </a:r>
            <a:r>
              <a:rPr lang="en-US" sz="1400" b="1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Mohamed </a:t>
            </a: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 — [</a:t>
            </a:r>
            <a:r>
              <a:rPr lang="en-US" altLang="en-US" sz="900" b="1" dirty="0">
                <a:latin typeface="Arial" panose="020B0604020202020204" pitchFamily="34" charset="0"/>
              </a:rPr>
              <a:t>Handled data cleaning and missing values, established robust 1-to-many relationships</a:t>
            </a:r>
            <a:r>
              <a:rPr lang="en-US" altLang="en-US" sz="800" b="1" dirty="0">
                <a:latin typeface="Arial" panose="020B0604020202020204" pitchFamily="34" charset="0"/>
              </a:rPr>
              <a:t>]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</a:t>
            </a:r>
            <a:r>
              <a:rPr lang="en-US" sz="1400" b="1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Amany Mohamed </a:t>
            </a: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 — [Main responsibility, e.g., Documentation, presentation, deployment]</a:t>
            </a:r>
            <a:endParaRPr lang="ar-EG" sz="1400" dirty="0">
              <a:solidFill>
                <a:srgbClr val="37474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FontTx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</a:t>
            </a:r>
            <a:r>
              <a:rPr lang="en-US" sz="1400" b="1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Shrouk Mera </a:t>
            </a: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 — [, Main responsibility, e.g., Documentation, presentation, deployment]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members participated in: planning, code reviews, testing, and final integration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4348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Show individual accountability alongside teamwork. Match contributions to the methodology in your documentation.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900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077ABE55-784B-4B1A-BA43-925F25D13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0992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References &amp; Resources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95591" y="1207008"/>
            <a:ext cx="41605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56032" y="841248"/>
            <a:ext cx="64008" cy="384048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859536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Academic &amp; Technical References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480" y="1207008"/>
            <a:ext cx="3840480" cy="22860"/>
          </a:xfrm>
          <a:prstGeom prst="rect">
            <a:avLst/>
          </a:prstGeom>
          <a:solidFill>
            <a:srgbClr val="3A8FD4"/>
          </a:solidFill>
          <a:ln w="12700">
            <a:solidFill>
              <a:srgbClr val="3A8F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1261872"/>
            <a:ext cx="38404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86720" y="1207008"/>
            <a:ext cx="4357280" cy="3652627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743336" y="850749"/>
            <a:ext cx="64008" cy="384048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859536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Tools, Datasets &amp; Repositories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892040" y="1207008"/>
            <a:ext cx="3840480" cy="228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07344" y="1089267"/>
            <a:ext cx="38404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44348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900" dirty="0"/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0C4799E8-6439-423C-82FF-42B56C1B8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" y="1333729"/>
            <a:ext cx="3835895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Ferrari, A., &amp; Russo, M. (2019) — 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Definitive Guide to DAX: Business Intelligence with Microsoft Power BI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Microsoft Press.</a:t>
            </a:r>
            <a:endParaRPr kumimoji="0" lang="ar-EG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Kimball, R., &amp; Ross, M. (2013) — 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 Warehouse Toolkit: The Definitive Guide to Dimensional Modeling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Wiley.</a:t>
            </a:r>
            <a:endParaRPr kumimoji="0" lang="ar-EG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Sevilla, J., et al. (2022) — 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 Trends Across Three Eras of Machine Learning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International Joint Conference on Neural Networks (IJCNN).</a:t>
            </a:r>
            <a:endParaRPr kumimoji="0" lang="ar-EG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Ministry of Communications and Information Technology (MCIT) — 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Egypt Strategy &amp; Governance Framework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58B2AC2E-EB02-4567-82E3-C647A7FE1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3479" y="1328546"/>
            <a:ext cx="4036201" cy="229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Dataset: Notable AI Systems &amp; Machine Learning Trends Database</a:t>
            </a:r>
            <a:endParaRPr kumimoji="0" lang="ar-EG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Source: Epoch AI Research Institute</a:t>
            </a:r>
            <a:endParaRPr kumimoji="0" lang="ar-EG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Official Link: 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https://epochai.org/data/notable-ai-systems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ar-EG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Repository: 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/>
              </a:rPr>
              <a:t>https://github.com/epochai/epochdb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 Used: Microsoft Power BI, Power Query (M Language), DAX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82880"/>
            <a:ext cx="822960" cy="82296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137160"/>
            <a:ext cx="1188720" cy="100584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228600"/>
            <a:ext cx="1371600" cy="73152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228600" y="1234440"/>
            <a:ext cx="8686800" cy="2286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274320" y="1601470"/>
            <a:ext cx="85953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9" name="Text 4"/>
          <p:cNvSpPr/>
          <p:nvPr/>
        </p:nvSpPr>
        <p:spPr>
          <a:xfrm>
            <a:off x="274320" y="2331720"/>
            <a:ext cx="8595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0" name="Shape 5"/>
          <p:cNvSpPr/>
          <p:nvPr/>
        </p:nvSpPr>
        <p:spPr>
          <a:xfrm>
            <a:off x="1435608" y="2926080"/>
            <a:ext cx="6400800" cy="1371600"/>
          </a:xfrm>
          <a:prstGeom prst="rect">
            <a:avLst/>
          </a:prstGeom>
          <a:solidFill>
            <a:srgbClr val="0D1F3F"/>
          </a:solidFill>
          <a:ln w="1016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GB" altLang="en-US"/>
          </a:p>
        </p:txBody>
      </p:sp>
      <p:sp>
        <p:nvSpPr>
          <p:cNvPr id="11" name="Shape 6"/>
          <p:cNvSpPr/>
          <p:nvPr/>
        </p:nvSpPr>
        <p:spPr>
          <a:xfrm>
            <a:off x="1371600" y="2926080"/>
            <a:ext cx="64008" cy="13716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554480" y="2980944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Name:      The AI Cambass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1554480" y="3401568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Track:               Junior Data Analyst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554480" y="3822192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/ Demo: [https://github.com/...] .... if exist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274320" y="4526280"/>
            <a:ext cx="8595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8.87999999999997,&quot;left&quot;:118.8,&quot;top&quot;:228.95999999999998,&quot;width&quot;:482.4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8.87999999999997,&quot;left&quot;:118.8,&quot;top&quot;:228.95999999999998,&quot;width&quot;:482.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8.87999999999997,&quot;left&quot;:118.8,&quot;top&quot;:228.95999999999998,&quot;width&quot;:482.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8.87999999999997,&quot;left&quot;:118.8,&quot;top&quot;:228.95999999999998,&quot;width&quot;:482.4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8.87999999999997,&quot;left&quot;:118.8,&quot;top&quot;:228.95999999999998,&quot;width&quot;:482.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8.87999999999997,&quot;left&quot;:118.8,&quot;top&quot;:228.95999999999998,&quot;width&quot;:482.4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8.87999999999997,&quot;left&quot;:118.8,&quot;top&quot;:228.95999999999998,&quot;width&quot;:482.4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8.87999999999997,&quot;left&quot;:118.8,&quot;top&quot;:228.95999999999998,&quot;width&quot;:482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1823</TotalTime>
  <Words>2210</Words>
  <Application>Microsoft Office PowerPoint</Application>
  <PresentationFormat>On-screen Show (16:9)</PresentationFormat>
  <Paragraphs>340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Berlin Sans FB Demi</vt:lpstr>
      <vt:lpstr>Calibri</vt:lpstr>
      <vt:lpstr>Google Sans Text</vt:lpstr>
      <vt:lpstr>Inter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Presentation Template</dc:title>
  <dc:subject>PptxGenJS Presentation</dc:subject>
  <dc:creator>DiGiLiANS</dc:creator>
  <cp:lastModifiedBy>A-FF-L1-D10@DIGI.LOCAL</cp:lastModifiedBy>
  <cp:revision>72</cp:revision>
  <dcterms:created xsi:type="dcterms:W3CDTF">2026-06-07T13:30:00Z</dcterms:created>
  <dcterms:modified xsi:type="dcterms:W3CDTF">2026-09-11T17:50:02Z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B353FF1D6D0E4D418372BC5CD770DCBE_12</vt:lpwstr>
  </property>
  <property fmtid="{D5CDD505-2E9C-101B-9397-08002B2CF9AE}" pid="3" name="KSOProductBuildVer">
    <vt:lpwstr>2057-12.2.0.23202</vt:lpwstr>
  </property>
</Properties>
</file>